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47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1.jpe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1.jpe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40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5.png"/><Relationship Id="rId10" Type="http://schemas.openxmlformats.org/officeDocument/2006/relationships/image" Target="../media/image64.jpeg"/><Relationship Id="rId1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png"/><Relationship Id="rId7" Type="http://schemas.openxmlformats.org/officeDocument/2006/relationships/image" Target="../media/image7.pn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3.png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5.jpeg"/><Relationship Id="rId1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59"/>
            <a:ext cx="9144000" cy="5143500"/>
          </a:xfrm>
          <a:prstGeom prst="rect">
            <a:avLst/>
          </a:prstGeom>
        </p:spPr>
      </p:pic>
      <p:sp>
        <p:nvSpPr>
          <p:cNvPr id="4" name="rect 4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6"/>
          <p:cNvSpPr/>
          <p:nvPr/>
        </p:nvSpPr>
        <p:spPr>
          <a:xfrm>
            <a:off x="84912" y="1395473"/>
            <a:ext cx="8986519" cy="306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新型电化学高级氧化技术降解</a:t>
            </a: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3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实验方案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41775" algn="l" rtl="0" eaLnBrk="0">
              <a:lnSpc>
                <a:spcPct val="86000"/>
              </a:lnSpc>
              <a:spcBef>
                <a:spcPts val="1605"/>
              </a:spcBef>
            </a:pP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11830" algn="l" rtl="0" eaLnBrk="0">
              <a:lnSpc>
                <a:spcPct val="88000"/>
              </a:lnSpc>
              <a:spcBef>
                <a:spcPts val="640"/>
              </a:spcBef>
            </a:pPr>
            <a:r>
              <a:rPr sz="2100" kern="0" spc="-300" dirty="0">
                <a:solidFill>
                  <a:srgbClr val="FFFFFF">
                    <a:alpha val="949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20" dirty="0">
                <a:solidFill>
                  <a:srgbClr val="FFFFFF">
                    <a:alpha val="94901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lang="zh-CN" sz="2100" kern="0" spc="-20" dirty="0">
                <a:solidFill>
                  <a:srgbClr val="FFFFFF">
                    <a:alpha val="94901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窦越，叶雅文，白芷瑜</a:t>
            </a:r>
            <a:r>
              <a:rPr sz="2100" kern="0" spc="-20" dirty="0">
                <a:solidFill>
                  <a:srgbClr val="FFFFFF">
                    <a:alpha val="94901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41775" algn="l" rtl="0" eaLnBrk="0">
              <a:lnSpc>
                <a:spcPct val="87000"/>
              </a:lnSpc>
              <a:spcBef>
                <a:spcPts val="0"/>
              </a:spcBef>
            </a:pPr>
            <a:r>
              <a:rPr sz="1500" kern="0" spc="-20" dirty="0">
                <a:solidFill>
                  <a:srgbClr val="FFFFFF">
                    <a:alpha val="74901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</a:t>
            </a:r>
            <a:r>
              <a:rPr sz="1500" kern="0" spc="-20" dirty="0">
                <a:solidFill>
                  <a:srgbClr val="FFFFFF">
                    <a:alpha val="749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1500" kern="0" spc="-20" dirty="0">
                <a:solidFill>
                  <a:srgbClr val="FFFFFF">
                    <a:alpha val="749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500" kern="0" spc="-20" dirty="0">
                <a:solidFill>
                  <a:srgbClr val="FFFFFF">
                    <a:alpha val="749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59"/>
            <a:ext cx="9144000" cy="514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8343" y="1321449"/>
            <a:ext cx="8230055" cy="3746806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571500" y="1334259"/>
            <a:ext cx="3905250" cy="1666875"/>
          </a:xfrm>
          <a:prstGeom prst="rect">
            <a:avLst/>
          </a:prstGeom>
          <a:solidFill>
            <a:srgbClr val="FFFFFF">
              <a:alpha val="9490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66737" y="1329497"/>
          <a:ext cx="3914139" cy="1676400"/>
        </p:xfrm>
        <a:graphic>
          <a:graphicData uri="http://schemas.openxmlformats.org/drawingml/2006/table">
            <a:tbl>
              <a:tblPr/>
              <a:tblGrid>
                <a:gridCol w="950594"/>
                <a:gridCol w="2963545"/>
              </a:tblGrid>
              <a:tr h="1676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9565" algn="l" rtl="0" eaLnBrk="0">
                        <a:lnSpc>
                          <a:spcPct val="83000"/>
                        </a:lnSpc>
                      </a:pPr>
                      <a:r>
                        <a:rPr sz="3600" kern="0" spc="2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</a:t>
                      </a:r>
                      <a:endParaRPr sz="3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400" kern="0" spc="2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项目背景与核心挑战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50495" algn="l" rtl="0" eaLnBrk="0">
                        <a:lnSpc>
                          <a:spcPct val="90000"/>
                        </a:lnSpc>
                        <a:spcBef>
                          <a:spcPts val="1105"/>
                        </a:spcBef>
                      </a:pPr>
                      <a:r>
                        <a:rPr sz="900" kern="0" spc="8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 </a:t>
                      </a:r>
                      <a:r>
                        <a:rPr sz="900" kern="0" spc="8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</a:t>
                      </a:r>
                      <a:r>
                        <a:rPr lang="zh-CN" altLang="en-US" sz="900" kern="0" spc="8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型</a:t>
                      </a:r>
                      <a:r>
                        <a:rPr sz="900" kern="0" spc="8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污染物</a:t>
                      </a:r>
                      <a:r>
                        <a:rPr sz="900" kern="0" spc="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PFOA</a:t>
                      </a:r>
                      <a:r>
                        <a:rPr sz="900" kern="0" spc="8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的环境与健康双重威胁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5410" indent="44450" algn="l" rtl="0" eaLnBrk="0">
                        <a:lnSpc>
                          <a:spcPct val="129000"/>
                        </a:lnSpc>
                        <a:spcBef>
                          <a:spcPts val="85"/>
                        </a:spcBef>
                      </a:pPr>
                      <a:r>
                        <a:rPr sz="900" kern="0" spc="8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 </a:t>
                      </a:r>
                      <a:r>
                        <a:rPr sz="900" kern="0" spc="8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常规水处理技术在去除</a:t>
                      </a:r>
                      <a:r>
                        <a:rPr sz="900" kern="0" spc="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PFOA</a:t>
                      </a:r>
                      <a:r>
                        <a:rPr sz="900" kern="0" spc="8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时面临的技术困</a:t>
                      </a:r>
                      <a:r>
                        <a:rPr sz="900" kern="0" spc="30" dirty="0" err="1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境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6"/>
          <p:cNvSpPr/>
          <p:nvPr/>
        </p:nvSpPr>
        <p:spPr>
          <a:xfrm>
            <a:off x="4667250" y="1334259"/>
            <a:ext cx="3905250" cy="1666875"/>
          </a:xfrm>
          <a:prstGeom prst="roundRect">
            <a:avLst>
              <a:gd name="adj" fmla="val 5113"/>
            </a:avLst>
          </a:prstGeom>
          <a:solidFill>
            <a:srgbClr val="FFFFFF">
              <a:alpha val="100000"/>
            </a:srgbClr>
          </a:solidFill>
          <a:ln w="9525" cap="flat">
            <a:solidFill>
              <a:srgbClr val="EDF2F7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84000"/>
              </a:lnSpc>
            </a:pPr>
            <a:r>
              <a:rPr sz="5500" kern="0" spc="50" baseline="-5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r>
              <a:rPr sz="3500" kern="0" spc="71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50" baseline="200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技术创新与实验方案</a:t>
            </a:r>
            <a:endParaRPr sz="2100" baseline="2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1245" algn="l" rtl="0" eaLnBrk="0">
              <a:lnSpc>
                <a:spcPct val="90000"/>
              </a:lnSpc>
              <a:spcBef>
                <a:spcPts val="170"/>
              </a:spcBef>
            </a:pP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核心技术：</a:t>
            </a:r>
            <a:r>
              <a:rPr sz="9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FeMo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</a:t>
            </a:r>
            <a:r>
              <a:rPr sz="900" kern="0" spc="1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电化学活化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PMS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1245" algn="l" rtl="0" eaLnBrk="0">
              <a:lnSpc>
                <a:spcPct val="90000"/>
              </a:lnSpc>
            </a:pP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</a:t>
            </a: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实验方案总体设计思路与关键控制变量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571500" y="3191634"/>
            <a:ext cx="3905250" cy="1666875"/>
          </a:xfrm>
          <a:prstGeom prst="roundRect">
            <a:avLst>
              <a:gd name="adj" fmla="val 5113"/>
            </a:avLst>
          </a:prstGeom>
          <a:solidFill>
            <a:srgbClr val="FFFFFF">
              <a:alpha val="100000"/>
            </a:srgbClr>
          </a:solidFill>
          <a:ln w="9525" cap="flat">
            <a:solidFill>
              <a:srgbClr val="EDF2F7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84000"/>
              </a:lnSpc>
            </a:pPr>
            <a:r>
              <a:rPr sz="5500" kern="0" spc="40" baseline="-5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r>
              <a:rPr sz="3500" kern="0" spc="82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40" baseline="200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实验流程与结果分析</a:t>
            </a:r>
            <a:endParaRPr sz="2100" baseline="2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1245" algn="l" rtl="0" eaLnBrk="0">
              <a:lnSpc>
                <a:spcPct val="90000"/>
              </a:lnSpc>
              <a:spcBef>
                <a:spcPts val="170"/>
              </a:spcBef>
            </a:pP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</a:t>
            </a: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两轮对照实验设计与污染物去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除效果对比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1245" algn="l" rtl="0" eaLnBrk="0">
              <a:lnSpc>
                <a:spcPct val="97000"/>
              </a:lnSpc>
              <a:spcBef>
                <a:spcPts val="5"/>
              </a:spcBef>
            </a:pP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</a:t>
            </a: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的数据深度分析与工艺参数优化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667250" y="3191634"/>
            <a:ext cx="3905250" cy="1666875"/>
          </a:xfrm>
          <a:prstGeom prst="roundRect">
            <a:avLst>
              <a:gd name="adj" fmla="val 5113"/>
            </a:avLst>
          </a:prstGeom>
          <a:solidFill>
            <a:srgbClr val="FFFFFF">
              <a:alpha val="100000"/>
            </a:srgbClr>
          </a:solidFill>
          <a:ln w="9525" cap="flat">
            <a:solidFill>
              <a:srgbClr val="EDF2F7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9720" algn="l" rtl="0" eaLnBrk="0">
              <a:lnSpc>
                <a:spcPct val="84000"/>
              </a:lnSpc>
            </a:pPr>
            <a:r>
              <a:rPr sz="5500" kern="0" spc="40" baseline="-5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r>
              <a:rPr sz="3500" kern="0" spc="8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40" baseline="200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降解机理深度解析</a:t>
            </a:r>
            <a:endParaRPr sz="2100" baseline="2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1245" algn="l" rtl="0" eaLnBrk="0">
              <a:lnSpc>
                <a:spcPct val="90000"/>
              </a:lnSpc>
              <a:spcBef>
                <a:spcPts val="170"/>
              </a:spcBef>
            </a:pP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</a:t>
            </a: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污染物降解路径的推导与验证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1245" algn="l" rtl="0" eaLnBrk="0">
              <a:lnSpc>
                <a:spcPct val="90000"/>
              </a:lnSpc>
            </a:pP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900" kern="0" spc="13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自由基与活性物种协同作用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601472" y="548510"/>
            <a:ext cx="194945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3600" kern="0" spc="-50" baseline="-40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r>
              <a:rPr sz="2300" kern="0" spc="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300" kern="0" spc="-50" baseline="5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2300" baseline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-2415"/>
            <a:ext cx="9144000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26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8301" y="1322225"/>
            <a:ext cx="4047682" cy="355627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649380" y="1324032"/>
            <a:ext cx="2268817" cy="1927674"/>
            <a:chOff x="0" y="0"/>
            <a:chExt cx="2268817" cy="1927674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268817" cy="1927674"/>
            </a:xfrm>
            <a:prstGeom prst="rect">
              <a:avLst/>
            </a:prstGeom>
          </p:spPr>
        </p:pic>
        <p:grpSp>
          <p:nvGrpSpPr>
            <p:cNvPr id="4" name="group 4"/>
            <p:cNvGrpSpPr/>
            <p:nvPr/>
          </p:nvGrpSpPr>
          <p:grpSpPr>
            <a:xfrm rot="21600000">
              <a:off x="17869" y="10227"/>
              <a:ext cx="2047875" cy="1714500"/>
              <a:chOff x="0" y="0"/>
              <a:chExt cx="2047875" cy="1714500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0" y="0"/>
                <a:ext cx="2047875" cy="1714500"/>
              </a:xfrm>
              <a:custGeom>
                <a:avLst/>
                <a:gdLst/>
                <a:ahLst/>
                <a:cxnLst/>
                <a:rect l="0" t="0" r="0" b="0"/>
                <a:pathLst>
                  <a:path w="3225" h="2700">
                    <a:moveTo>
                      <a:pt x="0" y="120"/>
                    </a:moveTo>
                    <a:moveTo>
                      <a:pt x="0" y="120"/>
                    </a:moveTo>
                    <a:cubicBezTo>
                      <a:pt x="0" y="53"/>
                      <a:pt x="53" y="0"/>
                      <a:pt x="120" y="0"/>
                    </a:cubicBezTo>
                    <a:lnTo>
                      <a:pt x="3105" y="0"/>
                    </a:lnTo>
                    <a:cubicBezTo>
                      <a:pt x="3171" y="0"/>
                      <a:pt x="3225" y="53"/>
                      <a:pt x="3225" y="120"/>
                    </a:cubicBezTo>
                    <a:lnTo>
                      <a:pt x="3225" y="2580"/>
                    </a:lnTo>
                    <a:cubicBezTo>
                      <a:pt x="3225" y="2646"/>
                      <a:pt x="3171" y="2700"/>
                      <a:pt x="3105" y="2700"/>
                    </a:cubicBezTo>
                    <a:lnTo>
                      <a:pt x="120" y="2700"/>
                    </a:lnTo>
                    <a:cubicBezTo>
                      <a:pt x="53" y="2700"/>
                      <a:pt x="0" y="2646"/>
                      <a:pt x="0" y="2580"/>
                    </a:cubicBez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FFFFFF">
                  <a:alpha val="94901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path 34"/>
              <p:cNvSpPr/>
              <p:nvPr/>
            </p:nvSpPr>
            <p:spPr>
              <a:xfrm>
                <a:off x="182403" y="161667"/>
                <a:ext cx="192360" cy="229451"/>
              </a:xfrm>
              <a:custGeom>
                <a:avLst/>
                <a:gdLst/>
                <a:ahLst/>
                <a:cxnLst/>
                <a:rect l="0" t="0" r="0" b="0"/>
                <a:pathLst>
                  <a:path w="302" h="361">
                    <a:moveTo>
                      <a:pt x="261" y="5"/>
                    </a:moveTo>
                    <a:lnTo>
                      <a:pt x="165" y="127"/>
                    </a:lnTo>
                    <a:moveTo>
                      <a:pt x="296" y="127"/>
                    </a:moveTo>
                    <a:lnTo>
                      <a:pt x="86" y="355"/>
                    </a:lnTo>
                    <a:moveTo>
                      <a:pt x="7" y="189"/>
                    </a:moveTo>
                    <a:lnTo>
                      <a:pt x="104" y="5"/>
                    </a:lnTo>
                  </a:path>
                </a:pathLst>
              </a:custGeom>
              <a:noFill/>
              <a:ln w="11112" cap="flat">
                <a:solidFill>
                  <a:srgbClr val="10B98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5194" y="175327"/>
              <a:ext cx="183356" cy="222250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50215" y="209839"/>
              <a:ext cx="1776095" cy="12103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4610" algn="l" rtl="0" eaLnBrk="0">
                <a:lnSpc>
                  <a:spcPct val="96000"/>
                </a:lnSpc>
              </a:pPr>
              <a:r>
                <a:rPr sz="12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7</a:t>
              </a:r>
              <a:r>
                <a:rPr sz="1200" kern="0" spc="7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</a:t>
              </a:r>
              <a:r>
                <a:rPr sz="1200" kern="0" spc="5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极端稳定性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240" algn="l" rtl="0" eaLnBrk="0">
                <a:lnSpc>
                  <a:spcPct val="88000"/>
                </a:lnSpc>
                <a:spcBef>
                  <a:spcPts val="275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分子含极强的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C-F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化学键（键能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145" indent="-4445" algn="l" rtl="0" eaLnBrk="0">
                <a:lnSpc>
                  <a:spcPct val="106000"/>
                </a:lnSpc>
                <a:spcBef>
                  <a:spcPts val="145"/>
                </a:spcBef>
              </a:pP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485-536</a:t>
              </a:r>
              <a:r>
                <a:rPr sz="900" kern="0" spc="9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kJ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/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mol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），拥有极高的化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学稳定性、热稳定性及抗生物降解</a:t>
              </a:r>
              <a:r>
                <a:rPr sz="900" kern="0" spc="-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path 40"/>
            <p:cNvSpPr/>
            <p:nvPr/>
          </p:nvSpPr>
          <p:spPr>
            <a:xfrm>
              <a:off x="266313" y="169771"/>
              <a:ext cx="122237" cy="88900"/>
            </a:xfrm>
            <a:custGeom>
              <a:avLst/>
              <a:gdLst/>
              <a:ahLst/>
              <a:cxnLst/>
              <a:rect l="0" t="0" r="0" b="0"/>
              <a:pathLst>
                <a:path w="192" h="140">
                  <a:moveTo>
                    <a:pt x="0" y="8"/>
                  </a:moveTo>
                  <a:lnTo>
                    <a:pt x="157" y="8"/>
                  </a:lnTo>
                  <a:moveTo>
                    <a:pt x="61" y="131"/>
                  </a:moveTo>
                  <a:lnTo>
                    <a:pt x="192" y="131"/>
                  </a:lnTo>
                </a:path>
              </a:pathLst>
            </a:custGeom>
            <a:noFill/>
            <a:ln w="11112" cap="flat">
              <a:solidFill>
                <a:srgbClr val="10B98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4662055" y="3179971"/>
            <a:ext cx="2243467" cy="1938942"/>
            <a:chOff x="0" y="0"/>
            <a:chExt cx="2243467" cy="1938942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243467" cy="1938942"/>
            </a:xfrm>
            <a:prstGeom prst="rect">
              <a:avLst/>
            </a:prstGeom>
          </p:spPr>
        </p:pic>
        <p:sp>
          <p:nvSpPr>
            <p:cNvPr id="44" name="rect 44"/>
            <p:cNvSpPr/>
            <p:nvPr/>
          </p:nvSpPr>
          <p:spPr>
            <a:xfrm>
              <a:off x="5194" y="11663"/>
              <a:ext cx="2047875" cy="1714500"/>
            </a:xfrm>
            <a:prstGeom prst="rect">
              <a:avLst/>
            </a:prstGeom>
            <a:solidFill>
              <a:srgbClr val="FFFFFF">
                <a:alpha val="9490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" name="textbox 46"/>
            <p:cNvSpPr/>
            <p:nvPr/>
          </p:nvSpPr>
          <p:spPr>
            <a:xfrm>
              <a:off x="139141" y="158506"/>
              <a:ext cx="1736725" cy="12617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7650" algn="l" rtl="0" eaLnBrk="0">
                <a:lnSpc>
                  <a:spcPct val="89000"/>
                </a:lnSpc>
                <a:tabLst>
                  <a:tab pos="391795" algn="l"/>
                </a:tabLst>
              </a:pPr>
              <a:r>
                <a:rPr sz="12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200" kern="0" spc="7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严重健康风险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6350" algn="l" rtl="0" eaLnBrk="0">
                <a:lnSpc>
                  <a:spcPct val="107000"/>
                </a:lnSpc>
                <a:spcBef>
                  <a:spcPts val="0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已被证实具有肝脏毒性、免疫毒性及内分泌干扰效应</a:t>
              </a:r>
              <a:r>
                <a:rPr sz="9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，长期暴露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可能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增加肾癌、睾丸癌等多种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癌症的患病风险。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5850" y="171206"/>
              <a:ext cx="211137" cy="238921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21600000">
            <a:off x="6886812" y="1324032"/>
            <a:ext cx="2257187" cy="1914992"/>
            <a:chOff x="0" y="0"/>
            <a:chExt cx="2257187" cy="1914992"/>
          </a:xfrm>
        </p:grpSpPr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257187" cy="1914992"/>
            </a:xfrm>
            <a:prstGeom prst="rect">
              <a:avLst/>
            </a:prstGeom>
          </p:spPr>
        </p:pic>
        <p:sp>
          <p:nvSpPr>
            <p:cNvPr id="52" name="textbox 52"/>
            <p:cNvSpPr/>
            <p:nvPr/>
          </p:nvSpPr>
          <p:spPr>
            <a:xfrm>
              <a:off x="-12700" y="-12700"/>
              <a:ext cx="2282825" cy="19519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4180" algn="l" rtl="0" eaLnBrk="0">
                <a:lnSpc>
                  <a:spcPct val="89000"/>
                </a:lnSpc>
                <a:tabLst>
                  <a:tab pos="558800" algn="l"/>
                </a:tabLst>
              </a:pPr>
              <a:r>
                <a:rPr sz="12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200" kern="0" spc="6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广泛分布与富集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indent="6985" algn="l" rtl="0" eaLnBrk="0">
                <a:lnSpc>
                  <a:spcPct val="105000"/>
                </a:lnSpc>
                <a:spcBef>
                  <a:spcPts val="0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已在全球水环境中广泛检出。具有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极强的生物富集性与累积性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，可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过食物链逐级放大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，无处不在。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78356" y="214221"/>
              <a:ext cx="233362" cy="155575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21600000">
            <a:off x="6899492" y="3191634"/>
            <a:ext cx="2244507" cy="1914606"/>
            <a:chOff x="0" y="0"/>
            <a:chExt cx="2244507" cy="1914606"/>
          </a:xfrm>
        </p:grpSpPr>
        <p:pic>
          <p:nvPicPr>
            <p:cNvPr id="56" name="picture 5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1009"/>
              <a:ext cx="2244507" cy="1913596"/>
            </a:xfrm>
            <a:prstGeom prst="rect">
              <a:avLst/>
            </a:prstGeom>
          </p:spPr>
        </p:pic>
        <p:grpSp>
          <p:nvGrpSpPr>
            <p:cNvPr id="12" name="group 12"/>
            <p:cNvGrpSpPr/>
            <p:nvPr/>
          </p:nvGrpSpPr>
          <p:grpSpPr>
            <a:xfrm rot="21600000">
              <a:off x="6132" y="0"/>
              <a:ext cx="2047875" cy="1714500"/>
              <a:chOff x="0" y="0"/>
              <a:chExt cx="2047875" cy="1714500"/>
            </a:xfrm>
          </p:grpSpPr>
          <p:sp>
            <p:nvSpPr>
              <p:cNvPr id="58" name="path 58"/>
              <p:cNvSpPr/>
              <p:nvPr/>
            </p:nvSpPr>
            <p:spPr>
              <a:xfrm>
                <a:off x="0" y="0"/>
                <a:ext cx="2047875" cy="1714500"/>
              </a:xfrm>
              <a:custGeom>
                <a:avLst/>
                <a:gdLst/>
                <a:ahLst/>
                <a:cxnLst/>
                <a:rect l="0" t="0" r="0" b="0"/>
                <a:pathLst>
                  <a:path w="3225" h="2700">
                    <a:moveTo>
                      <a:pt x="0" y="120"/>
                    </a:moveTo>
                    <a:moveTo>
                      <a:pt x="0" y="120"/>
                    </a:moveTo>
                    <a:cubicBezTo>
                      <a:pt x="0" y="53"/>
                      <a:pt x="53" y="0"/>
                      <a:pt x="120" y="0"/>
                    </a:cubicBezTo>
                    <a:lnTo>
                      <a:pt x="3105" y="0"/>
                    </a:lnTo>
                    <a:cubicBezTo>
                      <a:pt x="3171" y="0"/>
                      <a:pt x="3225" y="53"/>
                      <a:pt x="3225" y="120"/>
                    </a:cubicBezTo>
                    <a:lnTo>
                      <a:pt x="3225" y="2580"/>
                    </a:lnTo>
                    <a:cubicBezTo>
                      <a:pt x="3225" y="2646"/>
                      <a:pt x="3171" y="2700"/>
                      <a:pt x="3105" y="2700"/>
                    </a:cubicBezTo>
                    <a:lnTo>
                      <a:pt x="120" y="2700"/>
                    </a:lnTo>
                    <a:cubicBezTo>
                      <a:pt x="53" y="2700"/>
                      <a:pt x="0" y="2646"/>
                      <a:pt x="0" y="2580"/>
                    </a:cubicBez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FFFFFF">
                  <a:alpha val="94901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path 60"/>
              <p:cNvSpPr/>
              <p:nvPr/>
            </p:nvSpPr>
            <p:spPr>
              <a:xfrm>
                <a:off x="304006" y="159543"/>
                <a:ext cx="66675" cy="66675"/>
              </a:xfrm>
              <a:custGeom>
                <a:avLst/>
                <a:gdLst/>
                <a:ahLst/>
                <a:cxnLst/>
                <a:rect l="0" t="0" r="0" b="0"/>
                <a:pathLst>
                  <a:path w="105" h="105">
                    <a:moveTo>
                      <a:pt x="8" y="8"/>
                    </a:moveTo>
                    <a:lnTo>
                      <a:pt x="96" y="96"/>
                    </a:lnTo>
                  </a:path>
                </a:pathLst>
              </a:custGeom>
              <a:noFill/>
              <a:ln w="11112" cap="rnd">
                <a:solidFill>
                  <a:srgbClr val="3B82F6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" name="textbox 62"/>
            <p:cNvSpPr/>
            <p:nvPr/>
          </p:nvSpPr>
          <p:spPr>
            <a:xfrm>
              <a:off x="139736" y="146843"/>
              <a:ext cx="1689100" cy="1263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6855" algn="l" rtl="0" eaLnBrk="0">
                <a:lnSpc>
                  <a:spcPct val="89000"/>
                </a:lnSpc>
                <a:tabLst>
                  <a:tab pos="393065" algn="l"/>
                </a:tabLst>
              </a:pPr>
              <a:r>
                <a:rPr sz="12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200" kern="0" spc="6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严格法规限制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41275" algn="l" rtl="0" eaLnBrk="0">
                <a:lnSpc>
                  <a:spcPct val="106000"/>
                </a:lnSpc>
                <a:spcBef>
                  <a:spcPts val="275"/>
                </a:spcBef>
              </a:pP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 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国际：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2019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年列入《斯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德哥尔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摩公约》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53975" algn="l" rtl="0" eaLnBrk="0">
                <a:lnSpc>
                  <a:spcPct val="94000"/>
                </a:lnSpc>
                <a:spcBef>
                  <a:spcPts val="125"/>
                </a:spcBef>
              </a:pP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 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国内：饮用水限值为</a:t>
              </a:r>
              <a:r>
                <a:rPr sz="900" kern="0" spc="2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80</a:t>
              </a: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" algn="l" rtl="0" eaLnBrk="0">
                <a:lnSpc>
                  <a:spcPts val="1200"/>
                </a:lnSpc>
              </a:pP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ng</a:t>
              </a:r>
              <a:r>
                <a:rPr sz="900" kern="0" spc="2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/L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GB</a:t>
              </a:r>
              <a:r>
                <a:rPr sz="9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5749-2022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87900" y="159543"/>
              <a:ext cx="188912" cy="233362"/>
            </a:xfrm>
            <a:prstGeom prst="rect">
              <a:avLst/>
            </a:prstGeom>
          </p:spPr>
        </p:pic>
        <p:sp>
          <p:nvSpPr>
            <p:cNvPr id="66" name="path 66"/>
            <p:cNvSpPr/>
            <p:nvPr/>
          </p:nvSpPr>
          <p:spPr>
            <a:xfrm>
              <a:off x="310138" y="159543"/>
              <a:ext cx="66675" cy="66675"/>
            </a:xfrm>
            <a:custGeom>
              <a:avLst/>
              <a:gdLst/>
              <a:ahLst/>
              <a:cxnLst/>
              <a:rect l="0" t="0" r="0" b="0"/>
              <a:pathLst>
                <a:path w="105" h="105">
                  <a:moveTo>
                    <a:pt x="96" y="96"/>
                  </a:moveTo>
                  <a:lnTo>
                    <a:pt x="8" y="96"/>
                  </a:lnTo>
                  <a:lnTo>
                    <a:pt x="8" y="8"/>
                  </a:lnTo>
                </a:path>
              </a:pathLst>
            </a:custGeom>
            <a:noFill/>
            <a:ln w="11112" cap="rnd">
              <a:solidFill>
                <a:srgbClr val="3B82F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8" name="textbox 68"/>
          <p:cNvSpPr/>
          <p:nvPr/>
        </p:nvSpPr>
        <p:spPr>
          <a:xfrm>
            <a:off x="571500" y="3620259"/>
            <a:ext cx="3810000" cy="1047750"/>
          </a:xfrm>
          <a:prstGeom prst="rect">
            <a:avLst/>
          </a:prstGeom>
          <a:solidFill>
            <a:srgbClr val="FFFFFF">
              <a:alpha val="8980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0" algn="l" rtl="0" eaLnBrk="0">
              <a:lnSpc>
                <a:spcPct val="88000"/>
              </a:lnSpc>
              <a:spcBef>
                <a:spcPts val="5"/>
              </a:spcBef>
            </a:pP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全氟辛酸（</a:t>
            </a:r>
            <a:r>
              <a:rPr sz="1000" kern="0" spc="-1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000" kern="0" spc="-18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是一类典</a:t>
            </a:r>
            <a:r>
              <a:rPr sz="1000" kern="0" spc="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型的新型持久性有机污染物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7320" indent="87630" algn="l" rtl="0" eaLnBrk="0">
              <a:lnSpc>
                <a:spcPct val="116000"/>
              </a:lnSpc>
              <a:spcBef>
                <a:spcPts val="240"/>
              </a:spcBef>
            </a:pP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POPs</a:t>
            </a:r>
            <a:r>
              <a:rPr sz="1000" kern="0" spc="-1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000" kern="0" spc="-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因其独特的理化性质</a:t>
            </a:r>
            <a:r>
              <a:rPr sz="1000" kern="0" spc="-1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，在环</a:t>
            </a:r>
            <a:r>
              <a:rPr sz="1000" kern="0" spc="-1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境中难以降解</a:t>
            </a:r>
            <a:r>
              <a:rPr sz="1000" kern="0" spc="-1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-1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，被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形象地称为  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永久化学品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  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572211" y="567560"/>
            <a:ext cx="6422390" cy="344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项目背景：超级“永久化学品”</a:t>
            </a:r>
            <a:r>
              <a:rPr sz="2400" kern="0" spc="-5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</a:t>
            </a:r>
            <a:r>
              <a:rPr sz="2400" kern="0" spc="-3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OA</a:t>
            </a:r>
            <a:r>
              <a:rPr sz="2400" kern="0" spc="-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的威胁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5141084"/>
            <a:ext cx="9144000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59"/>
            <a:ext cx="9144000" cy="5143500"/>
          </a:xfrm>
          <a:prstGeom prst="rect">
            <a:avLst/>
          </a:prstGeom>
        </p:spPr>
      </p:pic>
      <p:sp>
        <p:nvSpPr>
          <p:cNvPr id="76" name="rect 76"/>
          <p:cNvSpPr/>
          <p:nvPr/>
        </p:nvSpPr>
        <p:spPr>
          <a:xfrm>
            <a:off x="571500" y="3906009"/>
            <a:ext cx="8001000" cy="857250"/>
          </a:xfrm>
          <a:prstGeom prst="rect">
            <a:avLst/>
          </a:prstGeom>
          <a:solidFill>
            <a:srgbClr val="1F2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3321657" y="1699900"/>
            <a:ext cx="2695690" cy="2224063"/>
            <a:chOff x="0" y="0"/>
            <a:chExt cx="2695690" cy="2224063"/>
          </a:xfrm>
        </p:grpSpPr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695690" cy="2224063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-12700" y="-12700"/>
              <a:ext cx="2721610" cy="2260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4820" algn="l" rtl="0" eaLnBrk="0">
                <a:lnSpc>
                  <a:spcPct val="87000"/>
                </a:lnSpc>
                <a:spcBef>
                  <a:spcPts val="5"/>
                </a:spcBef>
                <a:tabLst>
                  <a:tab pos="600710" algn="l"/>
                </a:tabLst>
              </a:pPr>
              <a:r>
                <a:rPr sz="15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500" kern="0" spc="-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生物法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3355" algn="l" rtl="0" eaLnBrk="0">
                <a:lnSpc>
                  <a:spcPct val="90000"/>
                </a:lnSpc>
                <a:spcBef>
                  <a:spcPts val="280"/>
                </a:spcBef>
              </a:pP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主要方法：</a:t>
              </a:r>
              <a:r>
                <a:rPr sz="900" kern="0" spc="-1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6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活性污泥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法、</a:t>
              </a:r>
              <a:r>
                <a:rPr sz="900" kern="0" spc="-1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生物膜法等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3355" indent="-3810" algn="l" rtl="0" eaLnBrk="0">
                <a:lnSpc>
                  <a:spcPct val="122000"/>
                </a:lnSpc>
                <a:spcBef>
                  <a:spcPts val="150"/>
                </a:spcBef>
              </a:pPr>
              <a:r>
                <a:rPr sz="900" kern="0" spc="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局限性：</a:t>
              </a:r>
              <a:r>
                <a:rPr sz="900" kern="0" spc="-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化学性质稳定</a:t>
              </a:r>
              <a:r>
                <a:rPr sz="900" kern="0" spc="-13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，无法被微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生物代谢利用 ，对其去除率几乎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为零。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19261" y="279678"/>
              <a:ext cx="233362" cy="23336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 rot="21600000">
            <a:off x="561306" y="1699900"/>
            <a:ext cx="2689380" cy="2224063"/>
            <a:chOff x="0" y="0"/>
            <a:chExt cx="2689380" cy="2224063"/>
          </a:xfrm>
        </p:grpSpPr>
        <p:pic>
          <p:nvPicPr>
            <p:cNvPr id="84" name="picture 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89380" cy="2224063"/>
            </a:xfrm>
            <a:prstGeom prst="rect">
              <a:avLst/>
            </a:prstGeom>
          </p:spPr>
        </p:pic>
        <p:sp>
          <p:nvSpPr>
            <p:cNvPr id="86" name="textbox 86"/>
            <p:cNvSpPr/>
            <p:nvPr/>
          </p:nvSpPr>
          <p:spPr>
            <a:xfrm>
              <a:off x="-12700" y="-12700"/>
              <a:ext cx="2715260" cy="2261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06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2300" kern="0" spc="-1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</a:t>
              </a:r>
              <a:r>
                <a:rPr sz="2300" kern="0" spc="50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500" kern="0" spc="-1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物理法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7640" indent="3810" algn="l" rtl="0" eaLnBrk="0">
                <a:lnSpc>
                  <a:spcPct val="123000"/>
                </a:lnSpc>
                <a:spcBef>
                  <a:spcPts val="0"/>
                </a:spcBef>
              </a:pPr>
              <a:r>
                <a:rPr sz="9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主要方法：</a:t>
              </a:r>
              <a:r>
                <a:rPr sz="900" kern="0" spc="-1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活性炭吸附、</a:t>
              </a:r>
              <a:r>
                <a:rPr sz="900" kern="0" spc="-13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反渗透（</a:t>
              </a:r>
              <a:r>
                <a:rPr sz="900" kern="0" spc="-13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RO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局限性：</a:t>
              </a:r>
              <a:r>
                <a:rPr sz="900" kern="0" spc="6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仅实现相转移</a:t>
              </a:r>
              <a:r>
                <a:rPr sz="900" kern="0" spc="-1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6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，未降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</a:t>
              </a:r>
              <a:r>
                <a:rPr sz="900" kern="0" spc="-13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，易产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900" kern="0" spc="6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生二次污染</a:t>
              </a:r>
              <a:r>
                <a:rPr sz="900" kern="0" spc="-1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6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，且处理成本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高昂。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6084616" y="1699900"/>
            <a:ext cx="2691241" cy="2211427"/>
            <a:chOff x="0" y="0"/>
            <a:chExt cx="2691241" cy="2211427"/>
          </a:xfrm>
        </p:grpSpPr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91241" cy="2211427"/>
            </a:xfrm>
            <a:prstGeom prst="rect">
              <a:avLst/>
            </a:prstGeom>
          </p:spPr>
        </p:pic>
        <p:sp>
          <p:nvSpPr>
            <p:cNvPr id="90" name="textbox 90"/>
            <p:cNvSpPr/>
            <p:nvPr/>
          </p:nvSpPr>
          <p:spPr>
            <a:xfrm>
              <a:off x="-12700" y="-12700"/>
              <a:ext cx="2717164" cy="2248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53390" algn="l" rtl="0" eaLnBrk="0">
                <a:lnSpc>
                  <a:spcPct val="88000"/>
                </a:lnSpc>
                <a:tabLst>
                  <a:tab pos="596900" algn="l"/>
                </a:tabLst>
              </a:pPr>
              <a:r>
                <a:rPr sz="15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500" kern="0" spc="-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传统</a:t>
              </a:r>
              <a:r>
                <a:rPr sz="1500" kern="0" spc="-5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kern="0" spc="-2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AOPs</a:t>
              </a:r>
              <a:endParaRPr sz="1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2720" algn="l" rtl="0" eaLnBrk="0">
                <a:lnSpc>
                  <a:spcPct val="90000"/>
                </a:lnSpc>
                <a:spcBef>
                  <a:spcPts val="270"/>
                </a:spcBef>
              </a:pPr>
              <a:r>
                <a:rPr sz="900" kern="0" spc="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主要方法：</a:t>
              </a:r>
              <a:r>
                <a:rPr sz="900" kern="0" spc="-11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芬顿氧化、</a:t>
              </a:r>
              <a:r>
                <a:rPr sz="900" kern="0" spc="-1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臭氧氧化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52730" algn="l" rtl="0" eaLnBrk="0">
                <a:lnSpc>
                  <a:spcPts val="1350"/>
                </a:lnSpc>
              </a:pPr>
              <a:r>
                <a:rPr sz="900" kern="0" spc="11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sz="900" kern="0" spc="17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11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OH</a:t>
              </a:r>
              <a:r>
                <a:rPr sz="900" kern="0" spc="11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1450" indent="-2540" algn="l" rtl="0" eaLnBrk="0">
                <a:lnSpc>
                  <a:spcPct val="125000"/>
                </a:lnSpc>
                <a:spcBef>
                  <a:spcPts val="165"/>
                </a:spcBef>
              </a:pPr>
              <a:r>
                <a:rPr sz="900" kern="0" spc="8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局限性：</a:t>
              </a:r>
              <a:r>
                <a:rPr sz="900" kern="0" spc="-1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8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羟基自由基</a:t>
              </a:r>
              <a:r>
                <a:rPr sz="900" kern="0" spc="8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900" kern="0" spc="11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7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OH</a:t>
              </a:r>
              <a:r>
                <a:rPr sz="900" kern="0" spc="7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900" kern="0" spc="7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氧化能力不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足</a:t>
              </a:r>
              <a:r>
                <a:rPr sz="900" kern="0" spc="-11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，难以高效破坏</a:t>
              </a:r>
              <a:r>
                <a:rPr sz="900" kern="0" spc="5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-F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</a:t>
              </a:r>
              <a:r>
                <a:rPr sz="900" kern="0" spc="-13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，降解率低且脱</a:t>
              </a:r>
              <a:r>
                <a:rPr sz="900" kern="0" spc="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</a:t>
              </a:r>
              <a:r>
                <a:rPr sz="9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氟效果差。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29376" y="279677"/>
              <a:ext cx="211761" cy="233362"/>
            </a:xfrm>
            <a:prstGeom prst="rect">
              <a:avLst/>
            </a:prstGeom>
          </p:spPr>
        </p:pic>
      </p:grpSp>
      <p:sp>
        <p:nvSpPr>
          <p:cNvPr id="94" name="textbox 94"/>
          <p:cNvSpPr/>
          <p:nvPr/>
        </p:nvSpPr>
        <p:spPr>
          <a:xfrm>
            <a:off x="567639" y="548510"/>
            <a:ext cx="4408170" cy="843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7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常规水处理技术的困境与瓶颈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0"/>
              </a:spcBef>
            </a:pP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面对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这一顽固污染物</a:t>
            </a:r>
            <a:r>
              <a:rPr sz="1200" kern="0" spc="-1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，传统水处理技术显得力不从心。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324667" y="4160831"/>
            <a:ext cx="7041515" cy="36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-3175" algn="l" rtl="0" eaLnBrk="0">
              <a:lnSpc>
                <a:spcPct val="114000"/>
              </a:lnSpc>
            </a:pPr>
            <a:r>
              <a:rPr sz="1000" kern="0" spc="5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1000" kern="0" spc="-20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5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开发一种能够</a:t>
            </a:r>
            <a:r>
              <a:rPr sz="1000" kern="0" spc="5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高效、彻底降解</a:t>
            </a:r>
            <a:r>
              <a:rPr sz="10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000" kern="0" spc="5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并实现深度脱氟</a:t>
            </a:r>
            <a:r>
              <a:rPr sz="1000" kern="0" spc="5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的新型</a:t>
            </a:r>
            <a:r>
              <a:rPr sz="1000" kern="0" spc="4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水处理技术</a:t>
            </a:r>
            <a:r>
              <a:rPr sz="1000" kern="0" spc="-16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，是当前环境科学领域亟待解决的重大挑战</a:t>
            </a:r>
            <a:r>
              <a:rPr sz="1000" kern="0" spc="30" dirty="0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与迫切需求。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path 98"/>
          <p:cNvSpPr/>
          <p:nvPr/>
        </p:nvSpPr>
        <p:spPr>
          <a:xfrm>
            <a:off x="571500" y="1715259"/>
            <a:ext cx="2476500" cy="57150"/>
          </a:xfrm>
          <a:custGeom>
            <a:avLst/>
            <a:gdLst/>
            <a:ahLst/>
            <a:cxnLst/>
            <a:rect l="0" t="0" r="0" b="0"/>
            <a:pathLst>
              <a:path w="3900" h="90">
                <a:moveTo>
                  <a:pt x="0" y="0"/>
                </a:moveTo>
                <a:lnTo>
                  <a:pt x="3900" y="0"/>
                </a:lnTo>
                <a:lnTo>
                  <a:pt x="3900" y="90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3333750" y="1715259"/>
            <a:ext cx="2476500" cy="57150"/>
          </a:xfrm>
          <a:custGeom>
            <a:avLst/>
            <a:gdLst/>
            <a:ahLst/>
            <a:cxnLst/>
            <a:rect l="0" t="0" r="0" b="0"/>
            <a:pathLst>
              <a:path w="3900" h="90">
                <a:moveTo>
                  <a:pt x="0" y="0"/>
                </a:moveTo>
                <a:lnTo>
                  <a:pt x="3900" y="0"/>
                </a:lnTo>
                <a:lnTo>
                  <a:pt x="3900" y="90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6096000" y="1715259"/>
            <a:ext cx="2476500" cy="57150"/>
          </a:xfrm>
          <a:custGeom>
            <a:avLst/>
            <a:gdLst/>
            <a:ahLst/>
            <a:cxnLst/>
            <a:rect l="0" t="0" r="0" b="0"/>
            <a:pathLst>
              <a:path w="3900" h="90">
                <a:moveTo>
                  <a:pt x="0" y="0"/>
                </a:moveTo>
                <a:lnTo>
                  <a:pt x="3900" y="0"/>
                </a:lnTo>
                <a:lnTo>
                  <a:pt x="3900" y="90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785812" y="4167947"/>
            <a:ext cx="333374" cy="333374"/>
          </a:xfrm>
          <a:custGeom>
            <a:avLst/>
            <a:gdLst/>
            <a:ahLst/>
            <a:cxnLst/>
            <a:rect l="0" t="0" r="0" b="0"/>
            <a:pathLst>
              <a:path w="524" h="524">
                <a:moveTo>
                  <a:pt x="512" y="262"/>
                </a:moveTo>
                <a:cubicBezTo>
                  <a:pt x="512" y="278"/>
                  <a:pt x="510" y="295"/>
                  <a:pt x="507" y="311"/>
                </a:cubicBezTo>
                <a:cubicBezTo>
                  <a:pt x="504" y="327"/>
                  <a:pt x="499" y="343"/>
                  <a:pt x="493" y="358"/>
                </a:cubicBezTo>
                <a:cubicBezTo>
                  <a:pt x="487" y="373"/>
                  <a:pt x="479" y="387"/>
                  <a:pt x="470" y="401"/>
                </a:cubicBezTo>
                <a:cubicBezTo>
                  <a:pt x="461" y="415"/>
                  <a:pt x="450" y="427"/>
                  <a:pt x="439" y="439"/>
                </a:cubicBezTo>
                <a:cubicBezTo>
                  <a:pt x="427" y="450"/>
                  <a:pt x="415" y="461"/>
                  <a:pt x="401" y="470"/>
                </a:cubicBezTo>
                <a:cubicBezTo>
                  <a:pt x="387" y="479"/>
                  <a:pt x="373" y="487"/>
                  <a:pt x="358" y="493"/>
                </a:cubicBezTo>
                <a:cubicBezTo>
                  <a:pt x="343" y="499"/>
                  <a:pt x="327" y="504"/>
                  <a:pt x="311" y="507"/>
                </a:cubicBezTo>
                <a:cubicBezTo>
                  <a:pt x="295" y="510"/>
                  <a:pt x="278" y="512"/>
                  <a:pt x="262" y="512"/>
                </a:cubicBezTo>
                <a:cubicBezTo>
                  <a:pt x="246" y="512"/>
                  <a:pt x="229" y="510"/>
                  <a:pt x="213" y="507"/>
                </a:cubicBezTo>
                <a:cubicBezTo>
                  <a:pt x="197" y="504"/>
                  <a:pt x="181" y="499"/>
                  <a:pt x="166" y="493"/>
                </a:cubicBezTo>
                <a:cubicBezTo>
                  <a:pt x="151" y="487"/>
                  <a:pt x="137" y="479"/>
                  <a:pt x="123" y="470"/>
                </a:cubicBezTo>
                <a:cubicBezTo>
                  <a:pt x="109" y="461"/>
                  <a:pt x="97" y="450"/>
                  <a:pt x="85" y="439"/>
                </a:cubicBezTo>
                <a:cubicBezTo>
                  <a:pt x="74" y="427"/>
                  <a:pt x="63" y="415"/>
                  <a:pt x="54" y="401"/>
                </a:cubicBezTo>
                <a:cubicBezTo>
                  <a:pt x="45" y="387"/>
                  <a:pt x="37" y="373"/>
                  <a:pt x="31" y="358"/>
                </a:cubicBezTo>
                <a:cubicBezTo>
                  <a:pt x="25" y="343"/>
                  <a:pt x="20" y="327"/>
                  <a:pt x="17" y="311"/>
                </a:cubicBezTo>
                <a:cubicBezTo>
                  <a:pt x="14" y="295"/>
                  <a:pt x="12" y="278"/>
                  <a:pt x="12" y="262"/>
                </a:cubicBezTo>
                <a:cubicBezTo>
                  <a:pt x="12" y="246"/>
                  <a:pt x="14" y="229"/>
                  <a:pt x="17" y="213"/>
                </a:cubicBezTo>
                <a:cubicBezTo>
                  <a:pt x="20" y="197"/>
                  <a:pt x="25" y="181"/>
                  <a:pt x="31" y="166"/>
                </a:cubicBezTo>
                <a:cubicBezTo>
                  <a:pt x="37" y="151"/>
                  <a:pt x="45" y="137"/>
                  <a:pt x="54" y="123"/>
                </a:cubicBezTo>
                <a:cubicBezTo>
                  <a:pt x="63" y="109"/>
                  <a:pt x="74" y="97"/>
                  <a:pt x="85" y="85"/>
                </a:cubicBezTo>
                <a:cubicBezTo>
                  <a:pt x="97" y="74"/>
                  <a:pt x="109" y="63"/>
                  <a:pt x="123" y="54"/>
                </a:cubicBezTo>
                <a:cubicBezTo>
                  <a:pt x="137" y="45"/>
                  <a:pt x="151" y="37"/>
                  <a:pt x="166" y="31"/>
                </a:cubicBezTo>
                <a:cubicBezTo>
                  <a:pt x="181" y="25"/>
                  <a:pt x="197" y="20"/>
                  <a:pt x="213" y="17"/>
                </a:cubicBezTo>
                <a:cubicBezTo>
                  <a:pt x="229" y="14"/>
                  <a:pt x="246" y="12"/>
                  <a:pt x="262" y="12"/>
                </a:cubicBezTo>
                <a:cubicBezTo>
                  <a:pt x="278" y="12"/>
                  <a:pt x="295" y="14"/>
                  <a:pt x="311" y="17"/>
                </a:cubicBezTo>
                <a:cubicBezTo>
                  <a:pt x="327" y="20"/>
                  <a:pt x="343" y="25"/>
                  <a:pt x="358" y="31"/>
                </a:cubicBezTo>
                <a:cubicBezTo>
                  <a:pt x="373" y="37"/>
                  <a:pt x="387" y="45"/>
                  <a:pt x="401" y="54"/>
                </a:cubicBezTo>
                <a:cubicBezTo>
                  <a:pt x="415" y="63"/>
                  <a:pt x="427" y="74"/>
                  <a:pt x="439" y="85"/>
                </a:cubicBezTo>
                <a:cubicBezTo>
                  <a:pt x="450" y="97"/>
                  <a:pt x="461" y="109"/>
                  <a:pt x="470" y="123"/>
                </a:cubicBezTo>
                <a:cubicBezTo>
                  <a:pt x="479" y="137"/>
                  <a:pt x="487" y="151"/>
                  <a:pt x="493" y="166"/>
                </a:cubicBezTo>
                <a:cubicBezTo>
                  <a:pt x="499" y="181"/>
                  <a:pt x="504" y="197"/>
                  <a:pt x="507" y="213"/>
                </a:cubicBezTo>
                <a:cubicBezTo>
                  <a:pt x="510" y="229"/>
                  <a:pt x="512" y="246"/>
                  <a:pt x="512" y="262"/>
                </a:cubicBezTo>
                <a:moveTo>
                  <a:pt x="262" y="424"/>
                </a:moveTo>
                <a:lnTo>
                  <a:pt x="262" y="512"/>
                </a:lnTo>
                <a:moveTo>
                  <a:pt x="412" y="262"/>
                </a:moveTo>
                <a:lnTo>
                  <a:pt x="512" y="262"/>
                </a:lnTo>
                <a:moveTo>
                  <a:pt x="12" y="262"/>
                </a:moveTo>
                <a:lnTo>
                  <a:pt x="100" y="262"/>
                </a:lnTo>
                <a:moveTo>
                  <a:pt x="262" y="100"/>
                </a:moveTo>
                <a:lnTo>
                  <a:pt x="262" y="12"/>
                </a:lnTo>
              </a:path>
            </a:pathLst>
          </a:custGeom>
          <a:noFill/>
          <a:ln w="15874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0" y="5144259"/>
            <a:ext cx="9144000" cy="0"/>
          </a:xfrm>
          <a:custGeom>
            <a:avLst/>
            <a:gdLst/>
            <a:ahLst/>
            <a:cxnLst/>
            <a:rect l="0" t="0" r="0" b="0"/>
            <a:pathLst>
              <a:path w="14400">
                <a:moveTo>
                  <a:pt x="0" y="0"/>
                </a:moveTo>
                <a:lnTo>
                  <a:pt x="14400" y="0"/>
                </a:lnTo>
                <a:lnTo>
                  <a:pt x="14400" y="8100"/>
                </a:lnTo>
                <a:lnTo>
                  <a:pt x="0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108"/>
          <p:cNvSpPr/>
          <p:nvPr/>
        </p:nvSpPr>
        <p:spPr>
          <a:xfrm>
            <a:off x="0" y="762"/>
            <a:ext cx="9144000" cy="5143493"/>
          </a:xfrm>
          <a:prstGeom prst="rect">
            <a:avLst/>
          </a:prstGeom>
          <a:solidFill>
            <a:srgbClr val="F8F8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545404" y="1887858"/>
            <a:ext cx="4147614" cy="2901615"/>
            <a:chOff x="0" y="0"/>
            <a:chExt cx="4147614" cy="2901615"/>
          </a:xfrm>
        </p:grpSpPr>
        <p:pic>
          <p:nvPicPr>
            <p:cNvPr id="110" name="picture 1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4147614" cy="2901615"/>
            </a:xfrm>
            <a:prstGeom prst="rect">
              <a:avLst/>
            </a:prstGeom>
          </p:spPr>
        </p:pic>
        <p:sp>
          <p:nvSpPr>
            <p:cNvPr id="112" name="textbox 112"/>
            <p:cNvSpPr/>
            <p:nvPr/>
          </p:nvSpPr>
          <p:spPr>
            <a:xfrm>
              <a:off x="-12700" y="-12700"/>
              <a:ext cx="4173220" cy="29394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4030" algn="l" rtl="0" eaLnBrk="0">
                <a:lnSpc>
                  <a:spcPct val="88000"/>
                </a:lnSpc>
                <a:spcBef>
                  <a:spcPts val="0"/>
                </a:spcBef>
                <a:tabLst>
                  <a:tab pos="661035" algn="l"/>
                </a:tabLst>
              </a:pPr>
              <a:r>
                <a:rPr sz="16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600" kern="0" spc="4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核心原理</a:t>
              </a: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2410" algn="l" rtl="0" eaLnBrk="0">
                <a:lnSpc>
                  <a:spcPct val="138000"/>
                </a:lnSpc>
                <a:spcBef>
                  <a:spcPts val="0"/>
                </a:spcBef>
              </a:pP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利用具有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更高氧化还原电位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(2.5-3.</a:t>
              </a:r>
              <a:r>
                <a:rPr sz="1000" kern="0" spc="-9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r>
                <a:rPr sz="1000" kern="0" spc="-8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V)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和更强选择性的硫酸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</a:t>
              </a:r>
              <a:r>
                <a:rPr sz="1000" kern="0" spc="20" dirty="0" err="1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根自由基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lang="en-US"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SO</a:t>
              </a:r>
              <a:r>
                <a:rPr lang="en-US" sz="1000" kern="0" spc="20" baseline="-2500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r>
                <a:rPr lang="en-US" sz="1000" kern="0" spc="27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lang="en-US" sz="1000" kern="0" spc="20" baseline="3000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lang="en-US" sz="1000" kern="0" spc="-110" baseline="3000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lang="en-US" sz="1000" kern="0" spc="20" baseline="3000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</a:t>
              </a:r>
              <a:r>
                <a:rPr lang="en-US" sz="10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lang="en-US" sz="1000" kern="0" spc="-1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，对 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分子结构进行精准的协同进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攻。通过这种强氧化性的自由基反应</a:t>
              </a:r>
              <a:r>
                <a:rPr sz="10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，高效切断 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分子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中极难断裂的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C-F</a:t>
              </a:r>
              <a:r>
                <a:rPr sz="1000" kern="0" spc="-6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</a:t>
              </a:r>
              <a:r>
                <a:rPr sz="1000" kern="0" spc="-16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，从而将难降解的 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分解为无害的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小分子物质</a:t>
              </a:r>
              <a:r>
                <a:rPr sz="10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，实现彻底矿化。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61770" y="275078"/>
              <a:ext cx="219841" cy="264657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 rot="21600000">
            <a:off x="4641317" y="1887858"/>
            <a:ext cx="4147541" cy="2901615"/>
            <a:chOff x="0" y="0"/>
            <a:chExt cx="4147541" cy="2901615"/>
          </a:xfrm>
        </p:grpSpPr>
        <p:pic>
          <p:nvPicPr>
            <p:cNvPr id="116" name="picture 1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147541" cy="2901615"/>
            </a:xfrm>
            <a:prstGeom prst="rect">
              <a:avLst/>
            </a:prstGeom>
          </p:spPr>
        </p:pic>
        <p:sp>
          <p:nvSpPr>
            <p:cNvPr id="118" name="textbox 118"/>
            <p:cNvSpPr/>
            <p:nvPr/>
          </p:nvSpPr>
          <p:spPr>
            <a:xfrm>
              <a:off x="206475" y="159127"/>
              <a:ext cx="3509009" cy="22980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664" rIns="0" bIns="0"/>
            <a:lstStyle/>
            <a:p>
              <a:pPr marL="23495" indent="-11430" algn="l" rtl="0" eaLnBrk="0">
                <a:lnSpc>
                  <a:spcPct val="116000"/>
                </a:lnSpc>
                <a:spcBef>
                  <a:spcPts val="5"/>
                </a:spcBef>
              </a:pPr>
              <a:r>
                <a:rPr sz="1300" kern="0" spc="5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创新核心材料：</a:t>
              </a:r>
              <a:r>
                <a:rPr sz="1300" kern="0" spc="-2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300" kern="0" spc="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FeMo</a:t>
              </a:r>
              <a:r>
                <a:rPr sz="1300" kern="0" spc="-5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kern="0" spc="5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双金属合金碳</a:t>
              </a:r>
              <a:r>
                <a:rPr sz="1300" kern="0" spc="4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气凝胶</a:t>
              </a:r>
              <a:r>
                <a:rPr sz="13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1300" kern="0" spc="10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300" kern="0" spc="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FeMo</a:t>
              </a:r>
              <a:r>
                <a:rPr sz="1300" kern="0" spc="10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</a:t>
              </a:r>
              <a:r>
                <a:rPr sz="1300" kern="0" spc="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</a:t>
              </a:r>
              <a:r>
                <a:rPr sz="1300" kern="0" spc="10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4335" indent="1905" algn="l" rtl="0" eaLnBrk="0">
                <a:lnSpc>
                  <a:spcPct val="105000"/>
                </a:lnSpc>
                <a:spcBef>
                  <a:spcPts val="305"/>
                </a:spcBef>
              </a:pPr>
              <a:r>
                <a:rPr sz="1000" kern="0" spc="0" dirty="0" err="1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金属协同效应</a:t>
              </a:r>
              <a:r>
                <a:rPr sz="10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r>
                <a:rPr sz="1000" kern="0" spc="-9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引入</a:t>
              </a:r>
              <a:r>
                <a:rPr sz="900" kern="0" spc="8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元素加速关键的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Fe³+/Fe²</a:t>
              </a:r>
              <a:r>
                <a:rPr sz="900" kern="0" spc="-10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+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催化循环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，实现对过一硫酸盐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(PMS)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的高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效活化。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7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7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4335" indent="-1270" algn="l" rtl="0" eaLnBrk="0">
                <a:lnSpc>
                  <a:spcPct val="108000"/>
                </a:lnSpc>
              </a:pPr>
              <a:r>
                <a:rPr sz="1000" kern="0" spc="1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碳层包覆设计：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增强了材料在复杂水环境下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的稳定性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，同时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有效防止了金属离子的二次浸出</a:t>
              </a:r>
              <a:r>
                <a:rPr sz="900" kern="0" spc="-10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，避免二次污染。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30720" y="794191"/>
              <a:ext cx="200025" cy="200025"/>
            </a:xfrm>
            <a:prstGeom prst="rect">
              <a:avLst/>
            </a:prstGeom>
          </p:spPr>
        </p:pic>
        <p:pic>
          <p:nvPicPr>
            <p:cNvPr id="122" name="picture 1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40245" y="2075303"/>
              <a:ext cx="180975" cy="204789"/>
            </a:xfrm>
            <a:prstGeom prst="rect">
              <a:avLst/>
            </a:prstGeom>
          </p:spPr>
        </p:pic>
      </p:grpSp>
      <p:sp>
        <p:nvSpPr>
          <p:cNvPr id="124" name="textbox 124"/>
          <p:cNvSpPr/>
          <p:nvPr/>
        </p:nvSpPr>
        <p:spPr>
          <a:xfrm>
            <a:off x="567029" y="519938"/>
            <a:ext cx="7795259" cy="1024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87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技术创新：</a:t>
            </a:r>
            <a:r>
              <a:rPr sz="2400" kern="0" spc="-5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FeMo-CA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电化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学活化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PMS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  <a:spcBef>
                <a:spcPts val="0"/>
              </a:spcBef>
            </a:pPr>
            <a:r>
              <a:rPr sz="1200" kern="0" spc="-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为突破传统技术瓶颈</a:t>
            </a:r>
            <a:r>
              <a:rPr sz="1200" kern="0" spc="-19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，我们提出一种基于</a:t>
            </a:r>
            <a:r>
              <a:rPr sz="1200" kern="0" spc="-3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硫酸根自由基 </a:t>
            </a:r>
            <a:r>
              <a:rPr sz="1200" kern="0" spc="-3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(SO</a:t>
            </a:r>
            <a:r>
              <a:rPr sz="1200" kern="0" spc="-30" baseline="-25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200" kern="0" spc="-3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30" baseline="30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lang="en-US" sz="1200" kern="0" spc="-30" baseline="3000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200" kern="0" spc="-3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1200" kern="0" spc="-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的新型电化学高级氧化</a:t>
            </a:r>
            <a:r>
              <a:rPr sz="1200" kern="0" spc="-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</a:t>
            </a:r>
            <a:r>
              <a:rPr sz="1200" kern="0" spc="-20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kern="0" spc="-2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旨在高效降解</a:t>
            </a:r>
            <a:r>
              <a:rPr sz="1200" kern="0" spc="-4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200" kern="0" spc="-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5230736" y="2738781"/>
            <a:ext cx="3049904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82" rIns="0" bIns="0"/>
          <a:lstStyle/>
          <a:p>
            <a:pPr marL="12700" indent="3175" algn="l" rtl="0" eaLnBrk="0">
              <a:lnSpc>
                <a:spcPct val="106000"/>
              </a:lnSpc>
              <a:spcBef>
                <a:spcPts val="5"/>
              </a:spcBef>
            </a:pPr>
            <a:r>
              <a:rPr sz="1000" kern="0" spc="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三维多孔网络结构：</a:t>
            </a:r>
            <a:r>
              <a:rPr sz="9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提供巨</a:t>
            </a:r>
            <a:r>
              <a:rPr sz="9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大的比表面积和丰富的活性位</a:t>
            </a:r>
            <a:r>
              <a:rPr sz="9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，显著降低传质阻力</a:t>
            </a:r>
            <a:r>
              <a:rPr sz="900" kern="0" spc="-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，促进反应高效进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5026025" y="3478975"/>
            <a:ext cx="59055" cy="82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400" kern="0" spc="1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72037" y="3348800"/>
            <a:ext cx="47625" cy="47625"/>
          </a:xfrm>
          <a:prstGeom prst="rect">
            <a:avLst/>
          </a:prstGeom>
        </p:spPr>
      </p:pic>
      <p:sp>
        <p:nvSpPr>
          <p:cNvPr id="132" name="path 132"/>
          <p:cNvSpPr/>
          <p:nvPr/>
        </p:nvSpPr>
        <p:spPr>
          <a:xfrm>
            <a:off x="4910137" y="3367850"/>
            <a:ext cx="161925" cy="157162"/>
          </a:xfrm>
          <a:custGeom>
            <a:avLst/>
            <a:gdLst/>
            <a:ahLst/>
            <a:cxnLst/>
            <a:rect l="0" t="0" r="0" b="0"/>
            <a:pathLst>
              <a:path w="255" h="247">
                <a:moveTo>
                  <a:pt x="7" y="7"/>
                </a:moveTo>
                <a:lnTo>
                  <a:pt x="67" y="7"/>
                </a:lnTo>
                <a:cubicBezTo>
                  <a:pt x="84" y="7"/>
                  <a:pt x="97" y="20"/>
                  <a:pt x="97" y="37"/>
                </a:cubicBezTo>
                <a:lnTo>
                  <a:pt x="97" y="210"/>
                </a:lnTo>
                <a:cubicBezTo>
                  <a:pt x="97" y="226"/>
                  <a:pt x="110" y="240"/>
                  <a:pt x="127" y="240"/>
                </a:cubicBezTo>
                <a:lnTo>
                  <a:pt x="247" y="240"/>
                </a:lnTo>
              </a:path>
            </a:pathLst>
          </a:custGeom>
          <a:noFill/>
          <a:ln w="9524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 134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" name="rect 136"/>
          <p:cNvSpPr/>
          <p:nvPr/>
        </p:nvSpPr>
        <p:spPr>
          <a:xfrm>
            <a:off x="0" y="765"/>
            <a:ext cx="9144000" cy="5143493"/>
          </a:xfrm>
          <a:prstGeom prst="rect">
            <a:avLst/>
          </a:prstGeom>
          <a:solidFill>
            <a:srgbClr val="F4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648200" y="1801170"/>
            <a:ext cx="4140200" cy="3001182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8343" y="1801170"/>
            <a:ext cx="8014155" cy="2988518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558800" y="1797815"/>
            <a:ext cx="3930650" cy="2787650"/>
          </a:xfrm>
          <a:prstGeom prst="roundRect">
            <a:avLst>
              <a:gd name="adj" fmla="val 4467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0" algn="l" rtl="0" eaLnBrk="0">
              <a:lnSpc>
                <a:spcPct val="94000"/>
              </a:lnSpc>
              <a:spcBef>
                <a:spcPts val="5"/>
              </a:spcBef>
            </a:pPr>
            <a:r>
              <a:rPr sz="1300" kern="0" spc="3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宏观视角：</a:t>
            </a:r>
            <a:r>
              <a:rPr sz="1300" kern="0" spc="-26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3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三维多孔反应场 </a:t>
            </a:r>
            <a:r>
              <a:rPr sz="1300" kern="0" spc="3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3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</a:t>
            </a:r>
            <a:r>
              <a:rPr sz="1300" kern="0" spc="2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180" indent="-635" algn="l" rtl="0" eaLnBrk="0">
              <a:lnSpc>
                <a:spcPct val="126000"/>
              </a:lnSpc>
              <a:spcBef>
                <a:spcPts val="5"/>
              </a:spcBef>
            </a:pPr>
            <a:r>
              <a:rPr sz="900" kern="0" spc="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材料展现出独特的宏观三维多孔网络结构</a:t>
            </a:r>
            <a:r>
              <a:rPr sz="900" kern="0" spc="-1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，构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建了巨大的比表面</a:t>
            </a:r>
            <a:r>
              <a:rPr sz="9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</a:t>
            </a:r>
            <a:r>
              <a:rPr sz="900" kern="0" spc="-1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，为电化学反应提供</a:t>
            </a:r>
            <a:r>
              <a:rPr sz="9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了高效、</a:t>
            </a:r>
            <a:r>
              <a:rPr sz="900" kern="0" spc="-1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开放的“</a:t>
            </a:r>
            <a:r>
              <a:rPr sz="900" kern="0" spc="-1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反应场”</a:t>
            </a:r>
            <a:r>
              <a:rPr sz="900" kern="0" spc="-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，大幅提升了</a:t>
            </a:r>
            <a:r>
              <a:rPr sz="9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反应活性。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4654550" y="1797815"/>
            <a:ext cx="3930650" cy="2787650"/>
          </a:xfrm>
          <a:prstGeom prst="roundRect">
            <a:avLst>
              <a:gd name="adj" fmla="val 4467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8275" algn="l" rtl="0" eaLnBrk="0">
              <a:lnSpc>
                <a:spcPct val="94000"/>
              </a:lnSpc>
              <a:spcBef>
                <a:spcPts val="5"/>
              </a:spcBef>
            </a:pPr>
            <a:r>
              <a:rPr sz="1300" kern="0" spc="4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微观视角：碳包覆双金属颗粒 </a:t>
            </a:r>
            <a:r>
              <a:rPr sz="1300" kern="0" spc="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3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</a:t>
            </a:r>
            <a:r>
              <a:rPr sz="1300" kern="0" spc="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180" indent="635" algn="l" rtl="0" eaLnBrk="0">
              <a:lnSpc>
                <a:spcPct val="126000"/>
              </a:lnSpc>
              <a:spcBef>
                <a:spcPts val="0"/>
              </a:spcBef>
            </a:pPr>
            <a:r>
              <a:rPr sz="900" kern="0" spc="8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</a:t>
            </a:r>
            <a:r>
              <a:rPr sz="9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FeMo</a:t>
            </a:r>
            <a:r>
              <a:rPr sz="900" kern="0" spc="8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双金属纳米颗粒被致</a:t>
            </a:r>
            <a:r>
              <a:rPr sz="900" kern="0" spc="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密的碳层紧密包覆</a:t>
            </a:r>
            <a:r>
              <a:rPr sz="900" kern="0" spc="-1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，形成独特的</a:t>
            </a:r>
            <a:r>
              <a:rPr sz="9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900" kern="0" spc="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核壳结构。</a:t>
            </a:r>
            <a:r>
              <a:rPr sz="900" kern="0" spc="-1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这一设计既增强了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电子传输效率</a:t>
            </a:r>
            <a:r>
              <a:rPr sz="900" kern="0" spc="-1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，又有效抑制了金属</a:t>
            </a:r>
            <a:r>
              <a:rPr sz="9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离子浸出</a:t>
            </a:r>
            <a:r>
              <a:rPr sz="900" kern="0" spc="-10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，实现了性能与环境友好性的完美统一。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6" name="picture 1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2000" y="2002532"/>
            <a:ext cx="3524250" cy="133350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7750" y="2001015"/>
            <a:ext cx="3524250" cy="133350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572211" y="567566"/>
            <a:ext cx="5046979" cy="873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核心材料：</a:t>
            </a:r>
            <a:r>
              <a:rPr sz="2400" kern="0" spc="-50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FeMo-CA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的微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观世界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  <a:spcBef>
                <a:spcPts val="0"/>
              </a:spcBef>
            </a:pPr>
            <a:r>
              <a:rPr sz="1200" kern="0" spc="-3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FeMo-CA</a:t>
            </a:r>
            <a:r>
              <a:rPr sz="12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材料的独特结构是其高性能的关键</a:t>
            </a:r>
            <a:r>
              <a:rPr sz="1200" kern="0" spc="-2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，兼具</a:t>
            </a:r>
            <a:r>
              <a:rPr sz="1200" kern="0" spc="-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宏观与微观的双重优势。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-2412"/>
            <a:ext cx="9144000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 154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rect 156"/>
          <p:cNvSpPr/>
          <p:nvPr/>
        </p:nvSpPr>
        <p:spPr>
          <a:xfrm>
            <a:off x="0" y="765"/>
            <a:ext cx="9144000" cy="5143493"/>
          </a:xfrm>
          <a:prstGeom prst="rect">
            <a:avLst/>
          </a:prstGeom>
          <a:solidFill>
            <a:srgbClr val="FAFA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46100" y="1123736"/>
            <a:ext cx="8242452" cy="3767158"/>
          </a:xfrm>
          <a:prstGeom prst="rect">
            <a:avLst/>
          </a:prstGeom>
        </p:spPr>
      </p:pic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472966" y="1139003"/>
          <a:ext cx="8103661" cy="86677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215651"/>
                <a:gridCol w="3888010"/>
              </a:tblGrid>
              <a:tr h="866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indent="-4445" algn="l" rtl="0" eaLnBrk="0">
                        <a:lnSpc>
                          <a:spcPct val="111000"/>
                        </a:lnSpc>
                        <a:spcBef>
                          <a:spcPts val="5"/>
                        </a:spcBef>
                      </a:pPr>
                      <a:r>
                        <a:rPr sz="1100" kern="0" spc="1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本研究采用</a:t>
                      </a:r>
                      <a:r>
                        <a:rPr sz="1100" kern="0" spc="-20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“一轮基础验证</a:t>
                      </a:r>
                      <a:r>
                        <a:rPr sz="1100" kern="0" spc="-6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+ </a:t>
                      </a:r>
                      <a:r>
                        <a:rPr sz="1100" kern="0" spc="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二轮参数寻优”</a:t>
                      </a:r>
                      <a:r>
                        <a:rPr sz="1100" kern="0" spc="-20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的双阶段模式</a:t>
                      </a:r>
                      <a:r>
                        <a:rPr sz="1100" kern="0" spc="-18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100" kern="0" spc="2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系统性验证技术可行性并精准优化关键工艺参数</a:t>
                      </a:r>
                      <a:r>
                        <a:rPr sz="1100" kern="0" spc="1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268980" indent="-3059430" algn="l" rtl="0" eaLnBrk="0">
                        <a:lnSpc>
                          <a:spcPct val="113000"/>
                        </a:lnSpc>
                      </a:pPr>
                      <a:endParaRPr lang="en-US" sz="1000" kern="1200" spc="0" dirty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marL="3268980" indent="-3059430" algn="l" rtl="0" eaLnBrk="0">
                        <a:lnSpc>
                          <a:spcPct val="113000"/>
                        </a:lnSpc>
                      </a:pPr>
                      <a:endParaRPr lang="en-US" sz="1000" kern="1200" spc="0" dirty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marL="3268980" indent="-3059430" algn="l" rtl="0" eaLnBrk="0">
                        <a:lnSpc>
                          <a:spcPct val="113000"/>
                        </a:lnSpc>
                      </a:pPr>
                      <a:r>
                        <a:rPr sz="1100" kern="0" spc="3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◎ 目标污染物：</a:t>
                      </a:r>
                      <a:r>
                        <a:rPr sz="1100" kern="0" spc="-14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PFOA</a:t>
                      </a:r>
                      <a:r>
                        <a:rPr sz="1200" kern="0" spc="3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sz="1200" kern="0" spc="3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全氟辛酸</a:t>
                      </a:r>
                      <a:r>
                        <a:rPr sz="1200" kern="0" spc="30" dirty="0">
                          <a:solidFill>
                            <a:srgbClr val="10B981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1000" kern="0" spc="3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| </a:t>
                      </a:r>
                      <a:r>
                        <a:rPr sz="1000" kern="0" spc="3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初始浓度设定</a:t>
                      </a:r>
                      <a:r>
                        <a:rPr lang="en-US" sz="1000" kern="0" spc="3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r>
                        <a:rPr sz="1200" kern="0" spc="30" dirty="0">
                          <a:solidFill>
                            <a:srgbClr val="DC26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</a:t>
                      </a:r>
                      <a:r>
                        <a:rPr sz="1200" kern="0" spc="80" dirty="0">
                          <a:solidFill>
                            <a:srgbClr val="DC26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mg/L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 rot="21600000">
            <a:off x="571500" y="2191515"/>
            <a:ext cx="2476500" cy="2476500"/>
            <a:chOff x="0" y="0"/>
            <a:chExt cx="2476500" cy="2476500"/>
          </a:xfrm>
        </p:grpSpPr>
        <p:sp>
          <p:nvSpPr>
            <p:cNvPr id="162" name="rect 162"/>
            <p:cNvSpPr/>
            <p:nvPr/>
          </p:nvSpPr>
          <p:spPr>
            <a:xfrm>
              <a:off x="0" y="0"/>
              <a:ext cx="2476500" cy="24765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" name="textbox 166"/>
            <p:cNvSpPr/>
            <p:nvPr/>
          </p:nvSpPr>
          <p:spPr>
            <a:xfrm>
              <a:off x="134061" y="1390237"/>
              <a:ext cx="2212339" cy="9201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2385" algn="l" rtl="0" eaLnBrk="0">
                <a:lnSpc>
                  <a:spcPct val="98000"/>
                </a:lnSpc>
              </a:pPr>
              <a:r>
                <a:rPr sz="1200" kern="0" spc="1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▎</a:t>
              </a:r>
              <a:r>
                <a:rPr sz="1200" kern="0" spc="20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200" kern="0" spc="1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实验装置  </a:t>
              </a:r>
              <a:r>
                <a:rPr sz="1200" kern="0" spc="1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1200" kern="0" spc="11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lang="zh-CN" altLang="en-US" sz="1200" kern="0" spc="1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一式池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6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6000"/>
                </a:lnSpc>
              </a:pP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采用密闭式反应体系</a:t>
              </a:r>
              <a:r>
                <a:rPr sz="9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，有效避免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环境干扰</a:t>
              </a:r>
              <a:r>
                <a:rPr sz="9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确保实验数据准确性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，是开展基础验证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与参数寻优的核心载体。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3333750" y="2191515"/>
            <a:ext cx="2476500" cy="2476500"/>
            <a:chOff x="0" y="0"/>
            <a:chExt cx="2476500" cy="2476500"/>
          </a:xfrm>
        </p:grpSpPr>
        <p:sp>
          <p:nvSpPr>
            <p:cNvPr id="168" name="rect 168"/>
            <p:cNvSpPr/>
            <p:nvPr/>
          </p:nvSpPr>
          <p:spPr>
            <a:xfrm>
              <a:off x="0" y="0"/>
              <a:ext cx="2476500" cy="24765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95250" y="142871"/>
              <a:ext cx="2286000" cy="1047750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133261" y="1268796"/>
              <a:ext cx="2213610" cy="1111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6200" algn="l" rtl="0" eaLnBrk="0">
                <a:lnSpc>
                  <a:spcPct val="98000"/>
                </a:lnSpc>
              </a:pPr>
              <a:r>
                <a:rPr sz="1200" kern="0" spc="-10" dirty="0">
                  <a:solidFill>
                    <a:srgbClr val="2563E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▎</a:t>
              </a:r>
              <a:r>
                <a:rPr sz="1200" kern="0" spc="160" dirty="0">
                  <a:solidFill>
                    <a:srgbClr val="2563E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200" kern="0" spc="-10" dirty="0">
                  <a:solidFill>
                    <a:srgbClr val="2563E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定量分析  </a:t>
              </a:r>
              <a:r>
                <a:rPr sz="1200" kern="0" spc="-10" dirty="0">
                  <a:solidFill>
                    <a:srgbClr val="2563E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1200" kern="0" spc="100" dirty="0">
                  <a:solidFill>
                    <a:srgbClr val="2563E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2563E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UHPLC </a:t>
              </a:r>
              <a:r>
                <a:rPr lang="en-US" sz="1200" kern="0" spc="-10" dirty="0">
                  <a:solidFill>
                    <a:srgbClr val="2563E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</a:t>
              </a:r>
              <a:r>
                <a:rPr sz="1200" kern="0" spc="-10" dirty="0">
                  <a:solidFill>
                    <a:srgbClr val="2563E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FISE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4000"/>
                </a:lnSpc>
                <a:spcBef>
                  <a:spcPts val="5"/>
                </a:spcBef>
              </a:pP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利用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UHPLC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追踪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母体浓度变化</a:t>
              </a:r>
              <a:r>
                <a:rPr sz="900" kern="0" spc="-1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，计算降解动力学；</a:t>
              </a:r>
              <a:r>
                <a:rPr sz="900" kern="0" spc="-16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 err="1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</a:t>
              </a:r>
              <a:r>
                <a:rPr sz="900" kern="0" spc="-10" dirty="0" err="1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900" kern="0" spc="-1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IS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 (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氟离子电极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测定无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机氟离子浓度</a:t>
              </a:r>
              <a:r>
                <a:rPr sz="900" kern="0" spc="-1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，计算脱氟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率</a:t>
              </a:r>
              <a:r>
                <a:rPr sz="900" kern="0" spc="-1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，是判断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C-F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键破坏的“金标准”。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6096000" y="2191515"/>
            <a:ext cx="2476500" cy="2476500"/>
            <a:chOff x="0" y="0"/>
            <a:chExt cx="2476500" cy="2476500"/>
          </a:xfrm>
        </p:grpSpPr>
        <p:sp>
          <p:nvSpPr>
            <p:cNvPr id="174" name="rect 174"/>
            <p:cNvSpPr/>
            <p:nvPr/>
          </p:nvSpPr>
          <p:spPr>
            <a:xfrm>
              <a:off x="0" y="0"/>
              <a:ext cx="2476500" cy="24765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95250" y="140791"/>
              <a:ext cx="2286000" cy="1047746"/>
            </a:xfrm>
            <a:prstGeom prst="rect">
              <a:avLst/>
            </a:prstGeom>
          </p:spPr>
        </p:pic>
        <p:sp>
          <p:nvSpPr>
            <p:cNvPr id="178" name="textbox 178"/>
            <p:cNvSpPr/>
            <p:nvPr/>
          </p:nvSpPr>
          <p:spPr>
            <a:xfrm>
              <a:off x="133375" y="1390237"/>
              <a:ext cx="2212975" cy="992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2240" algn="l" rtl="0" eaLnBrk="0">
                <a:lnSpc>
                  <a:spcPct val="98000"/>
                </a:lnSpc>
              </a:pPr>
              <a:r>
                <a:rPr sz="1200" kern="0" spc="-10" dirty="0">
                  <a:solidFill>
                    <a:srgbClr val="F59E0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▎</a:t>
              </a:r>
              <a:r>
                <a:rPr sz="1200" kern="0" spc="140" dirty="0">
                  <a:solidFill>
                    <a:srgbClr val="F59E0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1200" kern="0" spc="-10" dirty="0">
                  <a:solidFill>
                    <a:srgbClr val="F59E0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机理分析  </a:t>
              </a:r>
              <a:r>
                <a:rPr sz="1200" kern="0" spc="-10" dirty="0">
                  <a:solidFill>
                    <a:srgbClr val="F59E0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1200" kern="0" spc="90" dirty="0">
                  <a:solidFill>
                    <a:srgbClr val="F59E0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F59E0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GC-MS </a:t>
              </a:r>
              <a:r>
                <a:rPr sz="1200" kern="0" spc="-10" dirty="0">
                  <a:solidFill>
                    <a:srgbClr val="F59E0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联用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6000"/>
                </a:lnSpc>
                <a:spcBef>
                  <a:spcPts val="0"/>
                </a:spcBef>
              </a:pPr>
              <a:r>
                <a:rPr sz="900" kern="0" spc="6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精准捕获并鉴定反应过程</a:t>
              </a:r>
              <a:r>
                <a:rPr sz="9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中的微量中间产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</a:t>
              </a:r>
              <a:r>
                <a:rPr sz="9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，结合产物分布特征与化学计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量学分析</a:t>
              </a:r>
              <a:r>
                <a:rPr sz="9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kern="0" spc="8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科学反推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900" kern="0" spc="8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的降解路径与微观反应机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80" name="textbox 180"/>
          <p:cNvSpPr/>
          <p:nvPr/>
        </p:nvSpPr>
        <p:spPr>
          <a:xfrm>
            <a:off x="572211" y="519941"/>
            <a:ext cx="2879089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实验方案总体设计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-2412"/>
            <a:ext cx="9144000" cy="6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69" b="10105"/>
          <a:stretch>
            <a:fillRect/>
          </a:stretch>
        </p:blipFill>
        <p:spPr>
          <a:xfrm>
            <a:off x="800757" y="2354188"/>
            <a:ext cx="2017986" cy="1064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 184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65"/>
            <a:ext cx="9144000" cy="5143493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2858" y="1318203"/>
            <a:ext cx="2716636" cy="3483991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18495" y="1318203"/>
            <a:ext cx="2710372" cy="3483991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79853" y="1318203"/>
            <a:ext cx="2709617" cy="3483991"/>
          </a:xfrm>
          <a:prstGeom prst="rect">
            <a:avLst/>
          </a:prstGeom>
        </p:spPr>
      </p:pic>
      <p:sp>
        <p:nvSpPr>
          <p:cNvPr id="194" name="textbox 194"/>
          <p:cNvSpPr/>
          <p:nvPr/>
        </p:nvSpPr>
        <p:spPr>
          <a:xfrm>
            <a:off x="558800" y="1321565"/>
            <a:ext cx="2501900" cy="3263900"/>
          </a:xfrm>
          <a:prstGeom prst="roundRect">
            <a:avLst>
              <a:gd name="adj" fmla="val 4980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2120" algn="l" rtl="0" eaLnBrk="0">
              <a:lnSpc>
                <a:spcPct val="83000"/>
              </a:lnSpc>
              <a:tabLst>
                <a:tab pos="578485" algn="l"/>
              </a:tabLst>
            </a:pPr>
            <a:r>
              <a:rPr sz="1500" kern="0" spc="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kern="0" spc="-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实验目的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180" indent="635" algn="l" rtl="0" eaLnBrk="0">
              <a:lnSpc>
                <a:spcPct val="134000"/>
              </a:lnSpc>
              <a:spcBef>
                <a:spcPts val="305"/>
              </a:spcBef>
            </a:pP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初步验证体系降解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的技术可行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</a:t>
            </a:r>
            <a:r>
              <a:rPr sz="1000" kern="0" spc="-1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，并通过主动设定</a:t>
            </a:r>
            <a:r>
              <a:rPr sz="1000" kern="0" spc="30" dirty="0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非最优条件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0815" algn="l" rtl="0" eaLnBrk="0">
              <a:lnSpc>
                <a:spcPct val="139000"/>
              </a:lnSpc>
              <a:spcBef>
                <a:spcPts val="95"/>
              </a:spcBef>
            </a:pP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暴露出体系在基础参数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下的降解瓶</a:t>
            </a:r>
            <a:r>
              <a:rPr sz="10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颈</a:t>
            </a:r>
            <a:r>
              <a:rPr sz="1000" kern="0" spc="-1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，为后续实验方案的优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化提供明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确的方向和依据。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path 196"/>
          <p:cNvSpPr/>
          <p:nvPr/>
        </p:nvSpPr>
        <p:spPr>
          <a:xfrm>
            <a:off x="781050" y="1639065"/>
            <a:ext cx="266700" cy="266700"/>
          </a:xfrm>
          <a:custGeom>
            <a:avLst/>
            <a:gdLst/>
            <a:ahLst/>
            <a:cxnLst/>
            <a:rect l="0" t="0" r="0" b="0"/>
            <a:pathLst>
              <a:path w="420" h="420">
                <a:moveTo>
                  <a:pt x="410" y="210"/>
                </a:moveTo>
                <a:cubicBezTo>
                  <a:pt x="410" y="223"/>
                  <a:pt x="408" y="236"/>
                  <a:pt x="406" y="249"/>
                </a:cubicBezTo>
                <a:cubicBezTo>
                  <a:pt x="403" y="261"/>
                  <a:pt x="399" y="274"/>
                  <a:pt x="394" y="286"/>
                </a:cubicBezTo>
                <a:cubicBezTo>
                  <a:pt x="389" y="298"/>
                  <a:pt x="383" y="310"/>
                  <a:pt x="376" y="321"/>
                </a:cubicBezTo>
                <a:cubicBezTo>
                  <a:pt x="368" y="332"/>
                  <a:pt x="360" y="342"/>
                  <a:pt x="351" y="351"/>
                </a:cubicBezTo>
                <a:cubicBezTo>
                  <a:pt x="342" y="360"/>
                  <a:pt x="332" y="368"/>
                  <a:pt x="321" y="376"/>
                </a:cubicBezTo>
                <a:cubicBezTo>
                  <a:pt x="310" y="383"/>
                  <a:pt x="298" y="389"/>
                  <a:pt x="286" y="394"/>
                </a:cubicBezTo>
                <a:cubicBezTo>
                  <a:pt x="274" y="399"/>
                  <a:pt x="261" y="403"/>
                  <a:pt x="249" y="406"/>
                </a:cubicBezTo>
                <a:cubicBezTo>
                  <a:pt x="236" y="408"/>
                  <a:pt x="223" y="410"/>
                  <a:pt x="210" y="410"/>
                </a:cubicBezTo>
                <a:cubicBezTo>
                  <a:pt x="196" y="410"/>
                  <a:pt x="183" y="408"/>
                  <a:pt x="170" y="406"/>
                </a:cubicBezTo>
                <a:cubicBezTo>
                  <a:pt x="158" y="403"/>
                  <a:pt x="145" y="399"/>
                  <a:pt x="133" y="394"/>
                </a:cubicBezTo>
                <a:cubicBezTo>
                  <a:pt x="121" y="389"/>
                  <a:pt x="109" y="383"/>
                  <a:pt x="98" y="376"/>
                </a:cubicBezTo>
                <a:cubicBezTo>
                  <a:pt x="87" y="368"/>
                  <a:pt x="77" y="360"/>
                  <a:pt x="68" y="351"/>
                </a:cubicBezTo>
                <a:cubicBezTo>
                  <a:pt x="59" y="342"/>
                  <a:pt x="51" y="332"/>
                  <a:pt x="43" y="321"/>
                </a:cubicBezTo>
                <a:cubicBezTo>
                  <a:pt x="36" y="310"/>
                  <a:pt x="30" y="298"/>
                  <a:pt x="25" y="286"/>
                </a:cubicBezTo>
                <a:cubicBezTo>
                  <a:pt x="20" y="274"/>
                  <a:pt x="16" y="261"/>
                  <a:pt x="13" y="249"/>
                </a:cubicBezTo>
                <a:cubicBezTo>
                  <a:pt x="11" y="236"/>
                  <a:pt x="10" y="223"/>
                  <a:pt x="10" y="210"/>
                </a:cubicBezTo>
                <a:cubicBezTo>
                  <a:pt x="10" y="196"/>
                  <a:pt x="11" y="183"/>
                  <a:pt x="13" y="170"/>
                </a:cubicBezTo>
                <a:cubicBezTo>
                  <a:pt x="16" y="158"/>
                  <a:pt x="20" y="145"/>
                  <a:pt x="25" y="133"/>
                </a:cubicBezTo>
                <a:cubicBezTo>
                  <a:pt x="30" y="121"/>
                  <a:pt x="36" y="109"/>
                  <a:pt x="43" y="98"/>
                </a:cubicBezTo>
                <a:cubicBezTo>
                  <a:pt x="51" y="87"/>
                  <a:pt x="59" y="77"/>
                  <a:pt x="68" y="68"/>
                </a:cubicBezTo>
                <a:cubicBezTo>
                  <a:pt x="77" y="59"/>
                  <a:pt x="87" y="51"/>
                  <a:pt x="98" y="43"/>
                </a:cubicBezTo>
                <a:cubicBezTo>
                  <a:pt x="109" y="36"/>
                  <a:pt x="121" y="30"/>
                  <a:pt x="133" y="25"/>
                </a:cubicBezTo>
                <a:cubicBezTo>
                  <a:pt x="145" y="20"/>
                  <a:pt x="158" y="16"/>
                  <a:pt x="170" y="13"/>
                </a:cubicBezTo>
                <a:cubicBezTo>
                  <a:pt x="183" y="11"/>
                  <a:pt x="196" y="10"/>
                  <a:pt x="210" y="10"/>
                </a:cubicBezTo>
                <a:cubicBezTo>
                  <a:pt x="223" y="10"/>
                  <a:pt x="236" y="11"/>
                  <a:pt x="249" y="13"/>
                </a:cubicBezTo>
                <a:cubicBezTo>
                  <a:pt x="261" y="16"/>
                  <a:pt x="274" y="20"/>
                  <a:pt x="286" y="25"/>
                </a:cubicBezTo>
                <a:cubicBezTo>
                  <a:pt x="298" y="30"/>
                  <a:pt x="310" y="36"/>
                  <a:pt x="321" y="43"/>
                </a:cubicBezTo>
                <a:cubicBezTo>
                  <a:pt x="332" y="51"/>
                  <a:pt x="342" y="59"/>
                  <a:pt x="351" y="68"/>
                </a:cubicBezTo>
                <a:cubicBezTo>
                  <a:pt x="360" y="77"/>
                  <a:pt x="368" y="87"/>
                  <a:pt x="376" y="98"/>
                </a:cubicBezTo>
                <a:cubicBezTo>
                  <a:pt x="383" y="109"/>
                  <a:pt x="389" y="121"/>
                  <a:pt x="394" y="133"/>
                </a:cubicBezTo>
                <a:cubicBezTo>
                  <a:pt x="399" y="145"/>
                  <a:pt x="403" y="158"/>
                  <a:pt x="406" y="170"/>
                </a:cubicBezTo>
                <a:cubicBezTo>
                  <a:pt x="408" y="183"/>
                  <a:pt x="410" y="196"/>
                  <a:pt x="410" y="210"/>
                </a:cubicBezTo>
                <a:moveTo>
                  <a:pt x="210" y="340"/>
                </a:moveTo>
                <a:lnTo>
                  <a:pt x="210" y="410"/>
                </a:lnTo>
                <a:moveTo>
                  <a:pt x="330" y="210"/>
                </a:moveTo>
                <a:lnTo>
                  <a:pt x="410" y="210"/>
                </a:lnTo>
                <a:moveTo>
                  <a:pt x="10" y="210"/>
                </a:moveTo>
                <a:lnTo>
                  <a:pt x="80" y="210"/>
                </a:lnTo>
              </a:path>
            </a:pathLst>
          </a:custGeom>
          <a:noFill/>
          <a:ln w="12700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8" name="table 198"/>
          <p:cNvGraphicFramePr>
            <a:graphicFrameLocks noGrp="1"/>
          </p:cNvGraphicFramePr>
          <p:nvPr/>
        </p:nvGraphicFramePr>
        <p:xfrm>
          <a:off x="3328987" y="1329503"/>
          <a:ext cx="2486025" cy="3248024"/>
        </p:xfrm>
        <a:graphic>
          <a:graphicData uri="http://schemas.openxmlformats.org/drawingml/2006/table">
            <a:tbl>
              <a:tblPr/>
              <a:tblGrid>
                <a:gridCol w="2486025"/>
              </a:tblGrid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21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4345" algn="l" rtl="0" eaLnBrk="0">
                        <a:lnSpc>
                          <a:spcPct val="87000"/>
                        </a:lnSpc>
                        <a:tabLst>
                          <a:tab pos="478790" algn="l"/>
                        </a:tabLst>
                      </a:pPr>
                      <a:r>
                        <a:rPr sz="1500" kern="0" spc="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500" kern="0" spc="3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500" kern="0" spc="-1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初始实验条件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882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0" name="picture 2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49650" y="1645415"/>
            <a:ext cx="254000" cy="254000"/>
          </a:xfrm>
          <a:prstGeom prst="rect">
            <a:avLst/>
          </a:prstGeom>
        </p:spPr>
      </p:pic>
      <p:sp>
        <p:nvSpPr>
          <p:cNvPr id="202" name="path 202"/>
          <p:cNvSpPr/>
          <p:nvPr/>
        </p:nvSpPr>
        <p:spPr>
          <a:xfrm>
            <a:off x="3545159" y="1640925"/>
            <a:ext cx="262980" cy="262980"/>
          </a:xfrm>
          <a:custGeom>
            <a:avLst/>
            <a:gdLst/>
            <a:ahLst/>
            <a:cxnLst/>
            <a:rect l="0" t="0" r="0" b="0"/>
            <a:pathLst>
              <a:path w="414" h="414">
                <a:moveTo>
                  <a:pt x="207" y="7"/>
                </a:moveTo>
                <a:lnTo>
                  <a:pt x="147" y="67"/>
                </a:lnTo>
                <a:lnTo>
                  <a:pt x="67" y="67"/>
                </a:lnTo>
                <a:lnTo>
                  <a:pt x="67" y="147"/>
                </a:lnTo>
                <a:lnTo>
                  <a:pt x="7" y="207"/>
                </a:lnTo>
                <a:lnTo>
                  <a:pt x="67" y="267"/>
                </a:lnTo>
                <a:lnTo>
                  <a:pt x="67" y="347"/>
                </a:lnTo>
                <a:lnTo>
                  <a:pt x="147" y="347"/>
                </a:lnTo>
                <a:lnTo>
                  <a:pt x="207" y="407"/>
                </a:lnTo>
                <a:lnTo>
                  <a:pt x="267" y="347"/>
                </a:lnTo>
                <a:lnTo>
                  <a:pt x="347" y="347"/>
                </a:lnTo>
                <a:lnTo>
                  <a:pt x="347" y="267"/>
                </a:lnTo>
                <a:lnTo>
                  <a:pt x="407" y="207"/>
                </a:lnTo>
                <a:lnTo>
                  <a:pt x="347" y="147"/>
                </a:lnTo>
                <a:lnTo>
                  <a:pt x="347" y="67"/>
                </a:lnTo>
                <a:lnTo>
                  <a:pt x="267" y="67"/>
                </a:lnTo>
                <a:lnTo>
                  <a:pt x="207" y="7"/>
                </a:lnTo>
                <a:close/>
              </a:path>
            </a:pathLst>
          </a:custGeom>
          <a:noFill/>
          <a:ln w="12700" cap="flat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textbox 204"/>
          <p:cNvSpPr/>
          <p:nvPr/>
        </p:nvSpPr>
        <p:spPr>
          <a:xfrm>
            <a:off x="6083300" y="1321565"/>
            <a:ext cx="2501900" cy="3263900"/>
          </a:xfrm>
          <a:prstGeom prst="roundRect">
            <a:avLst>
              <a:gd name="adj" fmla="val 4980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9595" algn="l" rtl="0" eaLnBrk="0">
              <a:lnSpc>
                <a:spcPct val="88000"/>
              </a:lnSpc>
            </a:pPr>
            <a:r>
              <a:rPr sz="15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标准操作流程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9545" indent="3175" algn="l" rtl="0" eaLnBrk="0">
              <a:lnSpc>
                <a:spcPct val="106000"/>
              </a:lnSpc>
              <a:spcBef>
                <a:spcPts val="365"/>
              </a:spcBef>
            </a:pPr>
            <a:r>
              <a:rPr sz="1200" kern="0" spc="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01. </a:t>
            </a:r>
            <a:r>
              <a:rPr sz="1200" kern="0" spc="40" dirty="0" err="1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</a:t>
            </a:r>
            <a:endParaRPr lang="en-US" sz="1200" kern="0" spc="40" dirty="0">
              <a:solidFill>
                <a:srgbClr val="10B98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9545" indent="3175" algn="l" rtl="0" eaLnBrk="0">
              <a:lnSpc>
                <a:spcPct val="106000"/>
              </a:lnSpc>
              <a:spcBef>
                <a:spcPts val="365"/>
              </a:spcBef>
            </a:pPr>
            <a:r>
              <a:rPr sz="900" kern="0" spc="4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组装</a:t>
            </a:r>
            <a:r>
              <a:rPr sz="900" kern="0" spc="40" dirty="0" err="1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  <a:r>
              <a:rPr sz="900" kern="0" spc="4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型电解池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3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按比例加</a:t>
            </a:r>
            <a:r>
              <a:rPr sz="900" kern="0" spc="6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r>
              <a:rPr sz="900" kern="0" spc="0" dirty="0" err="1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900" kern="0" spc="6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模拟废水和电解质</a:t>
            </a:r>
            <a:r>
              <a:rPr sz="900" kern="0" spc="-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6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确保密封</a:t>
            </a:r>
            <a:r>
              <a:rPr sz="900" kern="0" spc="1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</a:t>
            </a:r>
            <a:r>
              <a:rPr sz="9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815" indent="1905" algn="l" rtl="0" eaLnBrk="0">
              <a:lnSpc>
                <a:spcPct val="106000"/>
              </a:lnSpc>
              <a:spcBef>
                <a:spcPts val="370"/>
              </a:spcBef>
            </a:pPr>
            <a:r>
              <a:rPr sz="1200" kern="0" spc="3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02. </a:t>
            </a:r>
            <a:r>
              <a:rPr sz="1200" kern="0" spc="30" dirty="0" err="1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</a:t>
            </a:r>
            <a:endParaRPr lang="en-US" sz="1200" kern="0" spc="30" dirty="0">
              <a:solidFill>
                <a:srgbClr val="10B98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0815" indent="1905" algn="l" rtl="0" eaLnBrk="0">
              <a:lnSpc>
                <a:spcPct val="106000"/>
              </a:lnSpc>
              <a:spcBef>
                <a:spcPts val="370"/>
              </a:spcBef>
            </a:pPr>
            <a:r>
              <a:rPr sz="9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投加</a:t>
            </a:r>
            <a:r>
              <a:rPr sz="900" kern="0" spc="3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0.2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mM</a:t>
            </a:r>
            <a:r>
              <a:rPr sz="900" kern="0" spc="1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PMS</a:t>
            </a:r>
            <a:r>
              <a:rPr sz="900" kern="0" spc="-1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，立即开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启恒电流仪施加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</a:t>
            </a:r>
            <a:r>
              <a:rPr sz="900" kern="0" spc="-1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6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启动计</a:t>
            </a:r>
            <a:r>
              <a:rPr sz="900" kern="0" spc="1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9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6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180" indent="2540" algn="l" rtl="0" eaLnBrk="0">
              <a:lnSpc>
                <a:spcPct val="108000"/>
              </a:lnSpc>
            </a:pPr>
            <a:r>
              <a:rPr sz="1200" kern="0" spc="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03. </a:t>
            </a:r>
            <a:r>
              <a:rPr sz="1200" kern="0" spc="40" dirty="0" err="1">
                <a:solidFill>
                  <a:srgbClr val="10B98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</a:t>
            </a:r>
            <a:endParaRPr lang="en-US" sz="1200" kern="0" spc="40" dirty="0">
              <a:solidFill>
                <a:srgbClr val="10B98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0180" indent="2540" algn="l" rtl="0" eaLnBrk="0">
              <a:lnSpc>
                <a:spcPct val="108000"/>
              </a:lnSpc>
            </a:pPr>
            <a:r>
              <a:rPr sz="900" kern="0" spc="4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在预定时间点取样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4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经淬灭</a:t>
            </a:r>
            <a:r>
              <a:rPr sz="900" kern="0" spc="2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处理后</a:t>
            </a:r>
            <a:r>
              <a:rPr sz="900" kern="0" spc="-1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2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分别送</a:t>
            </a:r>
            <a:r>
              <a:rPr sz="900" kern="0" spc="0" dirty="0" err="1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UHPLC</a:t>
            </a:r>
            <a:r>
              <a:rPr sz="900" kern="0" spc="2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900" kern="0" spc="20" dirty="0" err="1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r>
              <a:rPr sz="900" kern="0" spc="-1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0" dirty="0" err="1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ISE</a:t>
            </a:r>
            <a:r>
              <a:rPr sz="900" kern="0" spc="2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sz="900" kern="0" spc="5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指标检测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572211" y="567566"/>
            <a:ext cx="562229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400" kern="0" spc="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</a:t>
            </a:r>
            <a:r>
              <a:rPr sz="2400" kern="0" spc="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第一轮实验：基础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性能验证与瓶颈暴露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3524250" y="2286765"/>
            <a:ext cx="2095500" cy="619125"/>
          </a:xfrm>
          <a:prstGeom prst="rect">
            <a:avLst/>
          </a:prstGeom>
          <a:solidFill>
            <a:srgbClr val="F0FD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6045" algn="l" rtl="0" eaLnBrk="0">
              <a:lnSpc>
                <a:spcPct val="94000"/>
              </a:lnSpc>
            </a:pPr>
            <a:r>
              <a:rPr sz="1000" kern="0" spc="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阴极施加电流：</a:t>
            </a:r>
            <a:r>
              <a:rPr sz="1000" kern="0" spc="-1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2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</a:t>
            </a:r>
            <a:r>
              <a:rPr sz="12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3524250" y="3048765"/>
            <a:ext cx="2095500" cy="619125"/>
          </a:xfrm>
          <a:prstGeom prst="rect">
            <a:avLst/>
          </a:prstGeom>
          <a:solidFill>
            <a:srgbClr val="F0FD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950" algn="l" rtl="0" eaLnBrk="0">
              <a:lnSpc>
                <a:spcPct val="94000"/>
              </a:lnSpc>
            </a:pP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PMS 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投加量：</a:t>
            </a:r>
            <a:r>
              <a:rPr sz="1000" kern="0" spc="-17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0.2 mM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3524250" y="3810765"/>
            <a:ext cx="2095500" cy="619125"/>
          </a:xfrm>
          <a:prstGeom prst="rect">
            <a:avLst/>
          </a:prstGeom>
          <a:solidFill>
            <a:srgbClr val="F0FD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235" algn="l" rtl="0" eaLnBrk="0">
              <a:lnSpc>
                <a:spcPct val="94000"/>
              </a:lnSpc>
            </a:pP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反应总时长：</a:t>
            </a:r>
            <a:r>
              <a:rPr sz="1000" kern="0" spc="-1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 </a:t>
            </a:r>
            <a:r>
              <a:rPr sz="12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4" name="path 214"/>
          <p:cNvSpPr/>
          <p:nvPr/>
        </p:nvSpPr>
        <p:spPr>
          <a:xfrm>
            <a:off x="571500" y="1334265"/>
            <a:ext cx="2476500" cy="57150"/>
          </a:xfrm>
          <a:custGeom>
            <a:avLst/>
            <a:gdLst/>
            <a:ahLst/>
            <a:cxnLst/>
            <a:rect l="0" t="0" r="0" b="0"/>
            <a:pathLst>
              <a:path w="3900" h="90">
                <a:moveTo>
                  <a:pt x="0" y="0"/>
                </a:moveTo>
                <a:lnTo>
                  <a:pt x="3900" y="0"/>
                </a:lnTo>
                <a:lnTo>
                  <a:pt x="3900" y="90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path 216"/>
          <p:cNvSpPr/>
          <p:nvPr/>
        </p:nvSpPr>
        <p:spPr>
          <a:xfrm>
            <a:off x="6096000" y="1334265"/>
            <a:ext cx="2476500" cy="57150"/>
          </a:xfrm>
          <a:custGeom>
            <a:avLst/>
            <a:gdLst/>
            <a:ahLst/>
            <a:cxnLst/>
            <a:rect l="0" t="0" r="0" b="0"/>
            <a:pathLst>
              <a:path w="3900" h="90">
                <a:moveTo>
                  <a:pt x="0" y="0"/>
                </a:moveTo>
                <a:lnTo>
                  <a:pt x="3900" y="0"/>
                </a:lnTo>
                <a:lnTo>
                  <a:pt x="3900" y="90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30950" y="1639065"/>
            <a:ext cx="215900" cy="266700"/>
          </a:xfrm>
          <a:prstGeom prst="rect">
            <a:avLst/>
          </a:prstGeom>
        </p:spPr>
      </p:pic>
      <p:sp>
        <p:nvSpPr>
          <p:cNvPr id="220" name="path 220"/>
          <p:cNvSpPr/>
          <p:nvPr/>
        </p:nvSpPr>
        <p:spPr>
          <a:xfrm>
            <a:off x="908050" y="1639065"/>
            <a:ext cx="12700" cy="57150"/>
          </a:xfrm>
          <a:custGeom>
            <a:avLst/>
            <a:gdLst/>
            <a:ahLst/>
            <a:cxnLst/>
            <a:rect l="0" t="0" r="0" b="0"/>
            <a:pathLst>
              <a:path w="20" h="90">
                <a:moveTo>
                  <a:pt x="10" y="80"/>
                </a:moveTo>
                <a:lnTo>
                  <a:pt x="10" y="10"/>
                </a:lnTo>
              </a:path>
            </a:pathLst>
          </a:custGeom>
          <a:noFill/>
          <a:ln w="12700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-2412"/>
            <a:ext cx="9144000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 224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65"/>
            <a:ext cx="9144000" cy="5143493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48200" y="1316868"/>
            <a:ext cx="4140200" cy="3485207"/>
          </a:xfrm>
          <a:prstGeom prst="rect">
            <a:avLst/>
          </a:prstGeom>
        </p:spPr>
      </p:pic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566737" y="1329503"/>
          <a:ext cx="3914140" cy="3248024"/>
        </p:xfrm>
        <a:graphic>
          <a:graphicData uri="http://schemas.openxmlformats.org/drawingml/2006/table">
            <a:tbl>
              <a:tblPr/>
              <a:tblGrid>
                <a:gridCol w="1957070"/>
                <a:gridCol w="1957070"/>
              </a:tblGrid>
              <a:tr h="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21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46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3235" algn="l" rtl="0" eaLnBrk="0">
                        <a:lnSpc>
                          <a:spcPct val="87000"/>
                        </a:lnSpc>
                        <a:tabLst>
                          <a:tab pos="612775" algn="l"/>
                        </a:tabLst>
                      </a:pPr>
                      <a:r>
                        <a:rPr sz="1600" kern="0" spc="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AI</a:t>
                      </a:r>
                      <a:r>
                        <a:rPr sz="1600" kern="0" spc="3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kern="0" spc="3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数据反馈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8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935" algn="l" rtl="0" eaLnBrk="0">
                        <a:lnSpc>
                          <a:spcPct val="90000"/>
                        </a:lnSpc>
                        <a:spcBef>
                          <a:spcPts val="280"/>
                        </a:spcBef>
                      </a:pP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系统对第一轮实验数据进行深度解析。</a:t>
                      </a:r>
                      <a:r>
                        <a:rPr sz="900" kern="0" spc="-14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 </a:t>
                      </a: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mA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电流和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0.2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indent="5080" algn="l" rtl="0" eaLnBrk="0">
                        <a:lnSpc>
                          <a:spcPct val="118000"/>
                        </a:lnSpc>
                        <a:spcBef>
                          <a:spcPts val="245"/>
                        </a:spcBef>
                      </a:pP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mM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PMS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的反应条件下</a:t>
                      </a:r>
                      <a:r>
                        <a:rPr sz="900" kern="0" spc="-12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，反应持续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60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分钟后</a:t>
                      </a:r>
                      <a:r>
                        <a:rPr sz="900" kern="0" spc="-13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7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，监测到关键指标</a:t>
                      </a: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900" kern="0" spc="5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表现如下：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703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32" name="picture 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6768" y="1647797"/>
            <a:ext cx="233362" cy="216693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4654550" y="1321565"/>
            <a:ext cx="3930650" cy="3263900"/>
          </a:xfrm>
          <a:prstGeom prst="roundRect">
            <a:avLst>
              <a:gd name="adj" fmla="val 3812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4660" algn="l" rtl="0" eaLnBrk="0">
              <a:lnSpc>
                <a:spcPct val="88000"/>
              </a:lnSpc>
              <a:spcBef>
                <a:spcPts val="5"/>
              </a:spcBef>
              <a:tabLst>
                <a:tab pos="584200" algn="l"/>
              </a:tabLst>
            </a:pPr>
            <a:r>
              <a:rPr sz="1600" kern="0" spc="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AI</a:t>
            </a:r>
            <a:r>
              <a:rPr sz="1600" kern="0" spc="3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诊断结论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7645" indent="-3175" algn="l" rtl="0" eaLnBrk="0">
              <a:lnSpc>
                <a:spcPct val="99000"/>
              </a:lnSpc>
              <a:spcBef>
                <a:spcPts val="340"/>
              </a:spcBef>
            </a:pPr>
            <a:r>
              <a:rPr sz="1100" kern="0" spc="60" dirty="0">
                <a:solidFill>
                  <a:srgbClr val="1F2937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✅ </a:t>
            </a:r>
            <a:r>
              <a:rPr sz="1100" kern="0" spc="6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有效性确认：</a:t>
            </a:r>
            <a:r>
              <a:rPr sz="1100" kern="0" spc="-2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降解率显著优于对照组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，证实该复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合体系具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备启动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降解的核心能力</a:t>
            </a:r>
            <a:r>
              <a:rPr sz="900" kern="0" spc="-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，基础逻辑成立。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0820" indent="-6350" algn="l" rtl="0" eaLnBrk="0">
              <a:lnSpc>
                <a:spcPct val="99000"/>
              </a:lnSpc>
              <a:spcBef>
                <a:spcPts val="340"/>
              </a:spcBef>
            </a:pPr>
            <a:r>
              <a:rPr sz="1100" kern="0" spc="60" dirty="0">
                <a:solidFill>
                  <a:srgbClr val="DC2626">
                    <a:alpha val="100000"/>
                  </a:srgbClr>
                </a:solidFill>
                <a:latin typeface="Segoe UI Symbol" panose="020B0502040204020203"/>
                <a:ea typeface="Segoe UI Symbol" panose="020B0502040204020203"/>
                <a:cs typeface="Segoe UI Symbol" panose="020B0502040204020203"/>
              </a:rPr>
              <a:t>⚠ </a:t>
            </a:r>
            <a:r>
              <a:rPr sz="1100" kern="0" spc="60" dirty="0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瓶颈诊断：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脱氟率极低是目前最大痛点</a:t>
            </a:r>
            <a:r>
              <a:rPr sz="900" kern="0" spc="-9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，表明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仅发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生断链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，未被彻底矿化</a:t>
            </a:r>
            <a:r>
              <a:rPr sz="900" kern="0" spc="-1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C-F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强键未被有效破坏。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0820" indent="-6350" algn="l" rtl="0" eaLnBrk="0">
              <a:lnSpc>
                <a:spcPct val="110000"/>
              </a:lnSpc>
            </a:pPr>
            <a:r>
              <a:rPr lang="en-US" altLang="zh-CN" sz="1800" b="0" dirty="0">
                <a:solidFill>
                  <a:srgbClr val="3B82F6"/>
                </a:solidFill>
                <a:effectLst/>
              </a:rPr>
              <a:t>?</a:t>
            </a:r>
            <a:r>
              <a:rPr sz="1100" kern="0" spc="70" dirty="0" err="1">
                <a:solidFill>
                  <a:srgbClr val="3B82F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原因分析：</a:t>
            </a:r>
            <a:r>
              <a:rPr sz="900" kern="0" spc="7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动力学模型计</a:t>
            </a:r>
            <a:r>
              <a:rPr sz="900" kern="0" spc="60" dirty="0" err="1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算显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⽰</a:t>
            </a:r>
            <a:r>
              <a:rPr sz="900" kern="0" spc="-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电流及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0.2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mM           PMS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提供的能量总量</a:t>
            </a:r>
            <a:r>
              <a:rPr sz="900" kern="0" spc="-9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，不足以跨越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彻底矿化所需的高能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反应壁垒。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912518" y="1636684"/>
            <a:ext cx="233362" cy="233362"/>
          </a:xfrm>
          <a:prstGeom prst="rect">
            <a:avLst/>
          </a:prstGeom>
        </p:spPr>
      </p:pic>
      <p:sp>
        <p:nvSpPr>
          <p:cNvPr id="238" name="textbox 238"/>
          <p:cNvSpPr/>
          <p:nvPr/>
        </p:nvSpPr>
        <p:spPr>
          <a:xfrm>
            <a:off x="800100" y="2953515"/>
            <a:ext cx="1619250" cy="1238250"/>
          </a:xfrm>
          <a:prstGeom prst="rect">
            <a:avLst/>
          </a:prstGeom>
          <a:solidFill>
            <a:srgbClr val="ECFD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3000"/>
              </a:lnSpc>
              <a:spcBef>
                <a:spcPts val="5"/>
              </a:spcBef>
            </a:pPr>
            <a:r>
              <a:rPr sz="2700" kern="0" spc="9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55%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8135" algn="l" rtl="0" eaLnBrk="0">
              <a:lnSpc>
                <a:spcPct val="88000"/>
              </a:lnSpc>
              <a:spcBef>
                <a:spcPts val="0"/>
              </a:spcBef>
            </a:pP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000" kern="0" spc="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母体去除率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2628900" y="2953515"/>
            <a:ext cx="1619250" cy="1238250"/>
          </a:xfrm>
          <a:prstGeom prst="rect">
            <a:avLst/>
          </a:prstGeom>
          <a:solidFill>
            <a:srgbClr val="FE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0535" algn="l" rtl="0" eaLnBrk="0">
              <a:lnSpc>
                <a:spcPct val="83000"/>
              </a:lnSpc>
              <a:spcBef>
                <a:spcPts val="5"/>
              </a:spcBef>
            </a:pPr>
            <a:r>
              <a:rPr sz="2700" kern="0" spc="40" dirty="0">
                <a:solidFill>
                  <a:srgbClr val="EF444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15%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115" algn="l" rtl="0" eaLnBrk="0">
              <a:lnSpc>
                <a:spcPts val="1230"/>
              </a:lnSpc>
              <a:spcBef>
                <a:spcPts val="0"/>
              </a:spcBef>
            </a:pPr>
            <a:r>
              <a:rPr sz="1000" kern="0" spc="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脱氟率 </a:t>
            </a:r>
            <a:r>
              <a:rPr sz="1000" kern="0" spc="2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关键瓶颈</a:t>
            </a:r>
            <a:r>
              <a:rPr sz="1000" kern="0" spc="2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572211" y="567566"/>
            <a:ext cx="2879089" cy="344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2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r>
              <a:rPr sz="2400" kern="0" spc="-13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2400" kern="0" spc="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数据分析与诊断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path 244"/>
          <p:cNvSpPr/>
          <p:nvPr/>
        </p:nvSpPr>
        <p:spPr>
          <a:xfrm>
            <a:off x="4667250" y="1334265"/>
            <a:ext cx="3905250" cy="57150"/>
          </a:xfrm>
          <a:custGeom>
            <a:avLst/>
            <a:gdLst/>
            <a:ahLst/>
            <a:cxnLst/>
            <a:rect l="0" t="0" r="0" b="0"/>
            <a:pathLst>
              <a:path w="6150" h="90">
                <a:moveTo>
                  <a:pt x="0" y="0"/>
                </a:moveTo>
                <a:lnTo>
                  <a:pt x="6150" y="0"/>
                </a:lnTo>
                <a:lnTo>
                  <a:pt x="6150" y="90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-2412"/>
            <a:ext cx="9144000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 248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rect 250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F8F8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48620" y="1413130"/>
            <a:ext cx="2714751" cy="3286946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3309001" y="1413130"/>
            <a:ext cx="2708346" cy="3286946"/>
            <a:chOff x="0" y="0"/>
            <a:chExt cx="2708346" cy="3286946"/>
          </a:xfrm>
        </p:grpSpPr>
        <p:pic>
          <p:nvPicPr>
            <p:cNvPr id="254" name="picture 2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08346" cy="3286946"/>
            </a:xfrm>
            <a:prstGeom prst="rect">
              <a:avLst/>
            </a:prstGeom>
          </p:spPr>
        </p:pic>
        <p:sp>
          <p:nvSpPr>
            <p:cNvPr id="256" name="textbox 256"/>
            <p:cNvSpPr/>
            <p:nvPr/>
          </p:nvSpPr>
          <p:spPr>
            <a:xfrm>
              <a:off x="-12700" y="-12700"/>
              <a:ext cx="2734310" cy="33127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13080" algn="l" rtl="0" eaLnBrk="0">
                <a:lnSpc>
                  <a:spcPct val="88000"/>
                </a:lnSpc>
                <a:spcBef>
                  <a:spcPts val="5"/>
                </a:spcBef>
                <a:tabLst>
                  <a:tab pos="662305" algn="l"/>
                </a:tabLst>
              </a:pPr>
              <a:r>
                <a:rPr sz="16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600" kern="0" spc="4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关键调整方案</a:t>
              </a: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3680" algn="l" rtl="0" eaLnBrk="0">
                <a:lnSpc>
                  <a:spcPct val="88000"/>
                </a:lnSpc>
                <a:spcBef>
                  <a:spcPts val="340"/>
                </a:spcBef>
              </a:pPr>
              <a:r>
                <a:rPr sz="1100" kern="0" spc="2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01.</a:t>
              </a:r>
              <a:r>
                <a:rPr sz="1100" kern="0" spc="3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2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提升阴极恒定电流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33045" algn="l" rtl="0" eaLnBrk="0">
                <a:lnSpc>
                  <a:spcPct val="95000"/>
                </a:lnSpc>
                <a:spcBef>
                  <a:spcPts val="960"/>
                </a:spcBef>
              </a:pPr>
              <a:r>
                <a:rPr sz="10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 </a:t>
              </a:r>
              <a:r>
                <a:rPr sz="1000" kern="0" spc="4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 </a:t>
              </a:r>
              <a:r>
                <a:rPr sz="1000" kern="0" spc="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</a:t>
              </a:r>
              <a:r>
                <a:rPr sz="1000" kern="0" spc="4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4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提升至</a:t>
              </a:r>
              <a:r>
                <a:rPr sz="1300" kern="0" spc="4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20</a:t>
              </a:r>
              <a:r>
                <a:rPr sz="1300" kern="0" spc="10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9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3680" algn="l" rtl="0" eaLnBrk="0">
                <a:lnSpc>
                  <a:spcPct val="88000"/>
                </a:lnSpc>
                <a:spcBef>
                  <a:spcPts val="335"/>
                </a:spcBef>
              </a:pPr>
              <a:r>
                <a:rPr sz="1100" kern="0" spc="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02. </a:t>
              </a:r>
              <a:r>
                <a:rPr sz="1100" kern="0" spc="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增加 </a:t>
              </a:r>
              <a:r>
                <a:rPr sz="1100" kern="0" spc="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PMS </a:t>
              </a:r>
              <a:r>
                <a:rPr sz="1100" kern="0" spc="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投加量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3045" algn="l" rtl="0" eaLnBrk="0">
                <a:lnSpc>
                  <a:spcPct val="95000"/>
                </a:lnSpc>
              </a:pPr>
              <a:r>
                <a:rPr sz="10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 </a:t>
              </a:r>
              <a:r>
                <a:rPr sz="1000" kern="0" spc="5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0.2 </a:t>
              </a:r>
              <a:r>
                <a:rPr sz="1000" kern="0" spc="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mM</a:t>
              </a:r>
              <a:r>
                <a:rPr sz="1000" kern="0" spc="10" dirty="0">
                  <a:solidFill>
                    <a:srgbClr val="6B72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50" dirty="0">
                  <a:solidFill>
                    <a:srgbClr val="6B728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提升至</a:t>
              </a:r>
              <a:r>
                <a:rPr sz="13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0.4 </a:t>
              </a:r>
              <a:r>
                <a:rPr sz="13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mM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pic>
          <p:nvPicPr>
            <p:cNvPr id="258" name="picture 2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34298" y="278152"/>
              <a:ext cx="266700" cy="256845"/>
            </a:xfrm>
            <a:prstGeom prst="rect">
              <a:avLst/>
            </a:prstGeom>
          </p:spPr>
        </p:pic>
      </p:grpSp>
      <p:grpSp>
        <p:nvGrpSpPr>
          <p:cNvPr id="32" name="group 32"/>
          <p:cNvGrpSpPr/>
          <p:nvPr/>
        </p:nvGrpSpPr>
        <p:grpSpPr>
          <a:xfrm rot="21600000">
            <a:off x="6071922" y="1425821"/>
            <a:ext cx="2716630" cy="3261564"/>
            <a:chOff x="0" y="0"/>
            <a:chExt cx="2716630" cy="3261564"/>
          </a:xfrm>
        </p:grpSpPr>
        <p:sp>
          <p:nvSpPr>
            <p:cNvPr id="260" name="rect 260"/>
            <p:cNvSpPr/>
            <p:nvPr/>
          </p:nvSpPr>
          <p:spPr>
            <a:xfrm>
              <a:off x="0" y="0"/>
              <a:ext cx="2716630" cy="3261564"/>
            </a:xfrm>
            <a:prstGeom prst="rect">
              <a:avLst/>
            </a:prstGeom>
            <a:solidFill>
              <a:srgbClr val="000000">
                <a:alpha val="18039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2" name="rect 262"/>
            <p:cNvSpPr/>
            <p:nvPr/>
          </p:nvSpPr>
          <p:spPr>
            <a:xfrm>
              <a:off x="24077" y="3693"/>
              <a:ext cx="2476500" cy="304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textbox 264"/>
            <p:cNvSpPr/>
            <p:nvPr/>
          </p:nvSpPr>
          <p:spPr>
            <a:xfrm>
              <a:off x="203878" y="248168"/>
              <a:ext cx="2118995" cy="24326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76860" algn="l" rtl="0" eaLnBrk="0">
                <a:lnSpc>
                  <a:spcPct val="88000"/>
                </a:lnSpc>
                <a:spcBef>
                  <a:spcPts val="5"/>
                </a:spcBef>
                <a:tabLst>
                  <a:tab pos="443230" algn="l"/>
                </a:tabLst>
              </a:pPr>
              <a:r>
                <a:rPr sz="16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600" kern="0" spc="4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科学调整依据</a:t>
              </a: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240" indent="46990" algn="l" rtl="0" eaLnBrk="0">
                <a:lnSpc>
                  <a:spcPct val="120000"/>
                </a:lnSpc>
                <a:spcBef>
                  <a:spcPts val="310"/>
                </a:spcBef>
              </a:pPr>
              <a:r>
                <a:rPr sz="1000" kern="0" spc="7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1000" kern="0" spc="-17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7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电场驱动力强化：</a:t>
              </a:r>
              <a:r>
                <a:rPr sz="1000" kern="0" spc="7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20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</a:t>
              </a:r>
              <a:r>
                <a:rPr sz="1000" kern="0" spc="6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的强电流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能显著加速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FeMo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界面的电子穿梭与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³+/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²+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循环</a:t>
              </a:r>
              <a:r>
                <a:rPr sz="1000" kern="0" spc="-17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，创造更多催</a:t>
              </a:r>
              <a:r>
                <a:rPr sz="1000" kern="0" spc="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化活性</a:t>
              </a:r>
              <a:r>
                <a:rPr sz="10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位点。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50165" algn="l" rtl="0" eaLnBrk="0">
                <a:lnSpc>
                  <a:spcPct val="121000"/>
                </a:lnSpc>
                <a:spcBef>
                  <a:spcPts val="5"/>
                </a:spcBef>
              </a:pP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反应底物保障：</a:t>
              </a:r>
              <a:r>
                <a:rPr sz="1000" kern="0" spc="-17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0.4</a:t>
              </a:r>
              <a:r>
                <a:rPr sz="1000" kern="0" spc="-16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mM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PMS</a:t>
              </a:r>
              <a:r>
                <a:rPr sz="1000" kern="0" spc="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浓度可激发界面产生极高</a:t>
              </a:r>
              <a:r>
                <a:rPr sz="1000" kern="0" spc="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浓度的  </a:t>
              </a:r>
              <a:r>
                <a:rPr sz="1000" kern="0" spc="4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“</a:t>
              </a:r>
              <a:r>
                <a:rPr sz="1000" kern="0" spc="4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活性氧风暴</a:t>
              </a:r>
              <a:r>
                <a:rPr sz="1000" kern="0" spc="4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”</a:t>
              </a:r>
              <a:r>
                <a:rPr sz="1000" kern="0" spc="1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000" kern="0" spc="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，为彻底打断高键能</a:t>
              </a:r>
              <a:r>
                <a:rPr sz="1000" kern="0" spc="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</a:t>
              </a:r>
              <a:r>
                <a:rPr sz="10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C-F</a:t>
              </a:r>
              <a:r>
                <a:rPr sz="1000" kern="0" spc="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键提供充足能量。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66" name="picture 2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65377" y="260868"/>
              <a:ext cx="215900" cy="266700"/>
            </a:xfrm>
            <a:prstGeom prst="rect">
              <a:avLst/>
            </a:prstGeom>
          </p:spPr>
        </p:pic>
      </p:grpSp>
      <p:sp>
        <p:nvSpPr>
          <p:cNvPr id="268" name="textbox 268"/>
          <p:cNvSpPr/>
          <p:nvPr/>
        </p:nvSpPr>
        <p:spPr>
          <a:xfrm>
            <a:off x="755567" y="2502052"/>
            <a:ext cx="2067560" cy="1503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indent="3810" algn="l" rtl="0" eaLnBrk="0">
              <a:lnSpc>
                <a:spcPct val="111000"/>
              </a:lnSpc>
            </a:pPr>
            <a:r>
              <a:rPr sz="1200" kern="0" spc="-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当前工艺在实际运行中</a:t>
            </a:r>
            <a:r>
              <a:rPr sz="1200" kern="0" spc="-1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，面临</a:t>
            </a:r>
            <a:r>
              <a:rPr sz="1200" kern="0" spc="-2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的核心挑战是：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3175" algn="l" rtl="0" eaLnBrk="0">
              <a:lnSpc>
                <a:spcPct val="122000"/>
              </a:lnSpc>
              <a:spcBef>
                <a:spcPts val="1230"/>
              </a:spcBef>
            </a:pP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降解反应不彻底</a:t>
            </a:r>
            <a:r>
              <a:rPr sz="1000" kern="0" spc="-1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，导致最终的脱氟率处于极低水平</a:t>
            </a:r>
            <a:r>
              <a:rPr sz="10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，仅达到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5240" algn="l" rtl="0" eaLnBrk="0">
              <a:lnSpc>
                <a:spcPct val="112000"/>
              </a:lnSpc>
              <a:spcBef>
                <a:spcPts val="185"/>
              </a:spcBef>
            </a:pPr>
            <a:r>
              <a:rPr lang="en-US" sz="2100" kern="0" spc="50" dirty="0">
                <a:solidFill>
                  <a:srgbClr val="EF444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100" kern="0" spc="50" dirty="0">
                <a:solidFill>
                  <a:srgbClr val="EF444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5%</a:t>
            </a: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，远未达到预期的排放标</a:t>
            </a:r>
            <a:r>
              <a:rPr sz="1000" kern="0" spc="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准与处理目标。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572211" y="567566"/>
            <a:ext cx="4584065" cy="345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03 1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分钟汇报：</a:t>
            </a:r>
            <a:r>
              <a:rPr sz="2400" kern="0" spc="-54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问题、调整与依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768350" y="1673990"/>
            <a:ext cx="1482725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2600" kern="0" spc="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2600" kern="0" spc="46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4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发现的问题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path 274"/>
          <p:cNvSpPr/>
          <p:nvPr/>
        </p:nvSpPr>
        <p:spPr>
          <a:xfrm>
            <a:off x="908050" y="1686690"/>
            <a:ext cx="12700" cy="57150"/>
          </a:xfrm>
          <a:custGeom>
            <a:avLst/>
            <a:gdLst/>
            <a:ahLst/>
            <a:cxnLst/>
            <a:rect l="0" t="0" r="0" b="0"/>
            <a:pathLst>
              <a:path w="20" h="90">
                <a:moveTo>
                  <a:pt x="10" y="80"/>
                </a:moveTo>
                <a:lnTo>
                  <a:pt x="10" y="10"/>
                </a:lnTo>
              </a:path>
            </a:pathLst>
          </a:custGeom>
          <a:noFill/>
          <a:ln w="12700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 276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59"/>
            <a:ext cx="9144000" cy="5143500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18495" y="1411797"/>
            <a:ext cx="2710372" cy="3389685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79853" y="1411797"/>
            <a:ext cx="2709617" cy="3389685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5493" y="1411797"/>
            <a:ext cx="2691364" cy="3389685"/>
          </a:xfrm>
          <a:prstGeom prst="rect">
            <a:avLst/>
          </a:prstGeom>
        </p:spPr>
      </p:pic>
      <p:sp>
        <p:nvSpPr>
          <p:cNvPr id="286" name="textbox 286"/>
          <p:cNvSpPr/>
          <p:nvPr/>
        </p:nvSpPr>
        <p:spPr>
          <a:xfrm>
            <a:off x="558800" y="1416814"/>
            <a:ext cx="2501900" cy="3168650"/>
          </a:xfrm>
          <a:prstGeom prst="roundRect">
            <a:avLst>
              <a:gd name="adj" fmla="val 4980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2120" algn="l" rtl="0" eaLnBrk="0">
              <a:lnSpc>
                <a:spcPct val="87000"/>
              </a:lnSpc>
              <a:spcBef>
                <a:spcPts val="5"/>
              </a:spcBef>
              <a:tabLst>
                <a:tab pos="580390" algn="l"/>
              </a:tabLst>
            </a:pPr>
            <a:r>
              <a:rPr sz="1600" kern="0" spc="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00" kern="0" spc="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实验目的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815" algn="l" rtl="0" eaLnBrk="0">
              <a:lnSpc>
                <a:spcPct val="134000"/>
              </a:lnSpc>
              <a:spcBef>
                <a:spcPts val="300"/>
              </a:spcBef>
            </a:pP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基于前期优化筛选出的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最佳反应条</a:t>
            </a:r>
            <a:r>
              <a:rPr sz="10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000" kern="0" spc="-1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，本阶段实验旨在：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905" algn="l" rtl="0" eaLnBrk="0">
              <a:lnSpc>
                <a:spcPct val="138000"/>
              </a:lnSpc>
              <a:spcBef>
                <a:spcPts val="125"/>
              </a:spcBef>
            </a:pP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全面验证并展⽰本体系对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全氟辛酸</a:t>
            </a:r>
            <a:r>
              <a:rPr sz="10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0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000" kern="0" spc="-1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的处理能力</a:t>
            </a:r>
            <a:r>
              <a:rPr sz="1000" kern="0" spc="-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，重点关注其  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的深度脱氟效率与彻底矿化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r>
              <a:rPr sz="1000" kern="0" spc="-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00" kern="0" spc="-19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以证明技术的实用潜力。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path 288"/>
          <p:cNvSpPr/>
          <p:nvPr/>
        </p:nvSpPr>
        <p:spPr>
          <a:xfrm>
            <a:off x="781050" y="1734314"/>
            <a:ext cx="266700" cy="266700"/>
          </a:xfrm>
          <a:custGeom>
            <a:avLst/>
            <a:gdLst/>
            <a:ahLst/>
            <a:cxnLst/>
            <a:rect l="0" t="0" r="0" b="0"/>
            <a:pathLst>
              <a:path w="420" h="420">
                <a:moveTo>
                  <a:pt x="410" y="210"/>
                </a:moveTo>
                <a:cubicBezTo>
                  <a:pt x="410" y="223"/>
                  <a:pt x="408" y="236"/>
                  <a:pt x="406" y="249"/>
                </a:cubicBezTo>
                <a:cubicBezTo>
                  <a:pt x="403" y="261"/>
                  <a:pt x="399" y="274"/>
                  <a:pt x="394" y="286"/>
                </a:cubicBezTo>
                <a:cubicBezTo>
                  <a:pt x="389" y="298"/>
                  <a:pt x="383" y="310"/>
                  <a:pt x="376" y="321"/>
                </a:cubicBezTo>
                <a:cubicBezTo>
                  <a:pt x="368" y="332"/>
                  <a:pt x="360" y="342"/>
                  <a:pt x="351" y="351"/>
                </a:cubicBezTo>
                <a:cubicBezTo>
                  <a:pt x="342" y="360"/>
                  <a:pt x="332" y="368"/>
                  <a:pt x="321" y="376"/>
                </a:cubicBezTo>
                <a:cubicBezTo>
                  <a:pt x="310" y="383"/>
                  <a:pt x="298" y="389"/>
                  <a:pt x="286" y="394"/>
                </a:cubicBezTo>
                <a:cubicBezTo>
                  <a:pt x="274" y="399"/>
                  <a:pt x="261" y="403"/>
                  <a:pt x="249" y="406"/>
                </a:cubicBezTo>
                <a:cubicBezTo>
                  <a:pt x="236" y="408"/>
                  <a:pt x="223" y="410"/>
                  <a:pt x="210" y="410"/>
                </a:cubicBezTo>
                <a:cubicBezTo>
                  <a:pt x="196" y="410"/>
                  <a:pt x="183" y="408"/>
                  <a:pt x="170" y="406"/>
                </a:cubicBezTo>
                <a:cubicBezTo>
                  <a:pt x="158" y="403"/>
                  <a:pt x="145" y="399"/>
                  <a:pt x="133" y="394"/>
                </a:cubicBezTo>
                <a:cubicBezTo>
                  <a:pt x="121" y="389"/>
                  <a:pt x="109" y="383"/>
                  <a:pt x="98" y="376"/>
                </a:cubicBezTo>
                <a:cubicBezTo>
                  <a:pt x="87" y="368"/>
                  <a:pt x="77" y="360"/>
                  <a:pt x="68" y="351"/>
                </a:cubicBezTo>
                <a:cubicBezTo>
                  <a:pt x="59" y="342"/>
                  <a:pt x="51" y="332"/>
                  <a:pt x="43" y="321"/>
                </a:cubicBezTo>
                <a:cubicBezTo>
                  <a:pt x="36" y="310"/>
                  <a:pt x="30" y="298"/>
                  <a:pt x="25" y="286"/>
                </a:cubicBezTo>
                <a:cubicBezTo>
                  <a:pt x="20" y="274"/>
                  <a:pt x="16" y="261"/>
                  <a:pt x="13" y="249"/>
                </a:cubicBezTo>
                <a:cubicBezTo>
                  <a:pt x="11" y="236"/>
                  <a:pt x="10" y="223"/>
                  <a:pt x="10" y="210"/>
                </a:cubicBezTo>
                <a:cubicBezTo>
                  <a:pt x="10" y="196"/>
                  <a:pt x="11" y="183"/>
                  <a:pt x="13" y="170"/>
                </a:cubicBezTo>
                <a:cubicBezTo>
                  <a:pt x="16" y="158"/>
                  <a:pt x="20" y="145"/>
                  <a:pt x="25" y="133"/>
                </a:cubicBezTo>
                <a:cubicBezTo>
                  <a:pt x="30" y="121"/>
                  <a:pt x="36" y="109"/>
                  <a:pt x="43" y="98"/>
                </a:cubicBezTo>
                <a:cubicBezTo>
                  <a:pt x="51" y="87"/>
                  <a:pt x="59" y="77"/>
                  <a:pt x="68" y="68"/>
                </a:cubicBezTo>
                <a:cubicBezTo>
                  <a:pt x="77" y="59"/>
                  <a:pt x="87" y="51"/>
                  <a:pt x="98" y="43"/>
                </a:cubicBezTo>
                <a:cubicBezTo>
                  <a:pt x="109" y="36"/>
                  <a:pt x="121" y="30"/>
                  <a:pt x="133" y="25"/>
                </a:cubicBezTo>
                <a:cubicBezTo>
                  <a:pt x="145" y="20"/>
                  <a:pt x="158" y="16"/>
                  <a:pt x="170" y="13"/>
                </a:cubicBezTo>
                <a:cubicBezTo>
                  <a:pt x="183" y="11"/>
                  <a:pt x="196" y="10"/>
                  <a:pt x="210" y="10"/>
                </a:cubicBezTo>
                <a:cubicBezTo>
                  <a:pt x="223" y="10"/>
                  <a:pt x="236" y="11"/>
                  <a:pt x="249" y="13"/>
                </a:cubicBezTo>
                <a:cubicBezTo>
                  <a:pt x="261" y="16"/>
                  <a:pt x="274" y="20"/>
                  <a:pt x="286" y="25"/>
                </a:cubicBezTo>
                <a:cubicBezTo>
                  <a:pt x="298" y="30"/>
                  <a:pt x="310" y="36"/>
                  <a:pt x="321" y="43"/>
                </a:cubicBezTo>
                <a:cubicBezTo>
                  <a:pt x="332" y="51"/>
                  <a:pt x="342" y="59"/>
                  <a:pt x="351" y="68"/>
                </a:cubicBezTo>
                <a:cubicBezTo>
                  <a:pt x="360" y="77"/>
                  <a:pt x="368" y="87"/>
                  <a:pt x="376" y="98"/>
                </a:cubicBezTo>
                <a:cubicBezTo>
                  <a:pt x="383" y="109"/>
                  <a:pt x="389" y="121"/>
                  <a:pt x="394" y="133"/>
                </a:cubicBezTo>
                <a:cubicBezTo>
                  <a:pt x="399" y="145"/>
                  <a:pt x="403" y="158"/>
                  <a:pt x="406" y="170"/>
                </a:cubicBezTo>
                <a:cubicBezTo>
                  <a:pt x="408" y="183"/>
                  <a:pt x="410" y="196"/>
                  <a:pt x="410" y="210"/>
                </a:cubicBezTo>
                <a:moveTo>
                  <a:pt x="210" y="340"/>
                </a:moveTo>
                <a:lnTo>
                  <a:pt x="210" y="410"/>
                </a:lnTo>
                <a:moveTo>
                  <a:pt x="330" y="210"/>
                </a:moveTo>
                <a:lnTo>
                  <a:pt x="410" y="210"/>
                </a:lnTo>
                <a:moveTo>
                  <a:pt x="10" y="210"/>
                </a:moveTo>
                <a:lnTo>
                  <a:pt x="80" y="210"/>
                </a:lnTo>
              </a:path>
            </a:pathLst>
          </a:custGeom>
          <a:noFill/>
          <a:ln w="12700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90" name="table 290"/>
          <p:cNvGraphicFramePr>
            <a:graphicFrameLocks noGrp="1"/>
          </p:cNvGraphicFramePr>
          <p:nvPr/>
        </p:nvGraphicFramePr>
        <p:xfrm>
          <a:off x="3328987" y="1424751"/>
          <a:ext cx="2486025" cy="3152139"/>
        </p:xfrm>
        <a:graphic>
          <a:graphicData uri="http://schemas.openxmlformats.org/drawingml/2006/table">
            <a:tbl>
              <a:tblPr/>
              <a:tblGrid>
                <a:gridCol w="2486025"/>
              </a:tblGrid>
              <a:tr h="813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43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  <a:tabLst>
                          <a:tab pos="478790" algn="l"/>
                        </a:tabLst>
                      </a:pPr>
                      <a:r>
                        <a:rPr sz="1600" kern="0" spc="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  </a:t>
                      </a:r>
                      <a:r>
                        <a:rPr sz="1600" kern="0" spc="4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优化实验条件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191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474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92" name="picture 2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49650" y="1740664"/>
            <a:ext cx="254000" cy="254000"/>
          </a:xfrm>
          <a:prstGeom prst="rect">
            <a:avLst/>
          </a:prstGeom>
        </p:spPr>
      </p:pic>
      <p:sp>
        <p:nvSpPr>
          <p:cNvPr id="294" name="path 294"/>
          <p:cNvSpPr/>
          <p:nvPr/>
        </p:nvSpPr>
        <p:spPr>
          <a:xfrm>
            <a:off x="3545159" y="1736174"/>
            <a:ext cx="262980" cy="262980"/>
          </a:xfrm>
          <a:custGeom>
            <a:avLst/>
            <a:gdLst/>
            <a:ahLst/>
            <a:cxnLst/>
            <a:rect l="0" t="0" r="0" b="0"/>
            <a:pathLst>
              <a:path w="414" h="414">
                <a:moveTo>
                  <a:pt x="207" y="7"/>
                </a:moveTo>
                <a:lnTo>
                  <a:pt x="147" y="67"/>
                </a:lnTo>
                <a:lnTo>
                  <a:pt x="67" y="67"/>
                </a:lnTo>
                <a:lnTo>
                  <a:pt x="67" y="147"/>
                </a:lnTo>
                <a:lnTo>
                  <a:pt x="7" y="207"/>
                </a:lnTo>
                <a:lnTo>
                  <a:pt x="67" y="267"/>
                </a:lnTo>
                <a:lnTo>
                  <a:pt x="67" y="347"/>
                </a:lnTo>
                <a:lnTo>
                  <a:pt x="147" y="347"/>
                </a:lnTo>
                <a:lnTo>
                  <a:pt x="207" y="407"/>
                </a:lnTo>
                <a:lnTo>
                  <a:pt x="267" y="347"/>
                </a:lnTo>
                <a:lnTo>
                  <a:pt x="347" y="347"/>
                </a:lnTo>
                <a:lnTo>
                  <a:pt x="347" y="267"/>
                </a:lnTo>
                <a:lnTo>
                  <a:pt x="407" y="207"/>
                </a:lnTo>
                <a:lnTo>
                  <a:pt x="347" y="147"/>
                </a:lnTo>
                <a:lnTo>
                  <a:pt x="347" y="67"/>
                </a:lnTo>
                <a:lnTo>
                  <a:pt x="267" y="67"/>
                </a:lnTo>
                <a:lnTo>
                  <a:pt x="207" y="7"/>
                </a:lnTo>
                <a:close/>
              </a:path>
            </a:pathLst>
          </a:custGeom>
          <a:noFill/>
          <a:ln w="12700" cap="flat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6" name="textbox 296"/>
          <p:cNvSpPr/>
          <p:nvPr/>
        </p:nvSpPr>
        <p:spPr>
          <a:xfrm>
            <a:off x="6083300" y="1416814"/>
            <a:ext cx="2501900" cy="3168650"/>
          </a:xfrm>
          <a:prstGeom prst="roundRect">
            <a:avLst>
              <a:gd name="adj" fmla="val 4980"/>
            </a:avLst>
          </a:prstGeom>
          <a:noFill/>
          <a:ln w="9525" cap="flat">
            <a:solidFill>
              <a:srgbClr val="E5E7E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2120" algn="l" rtl="0" eaLnBrk="0">
              <a:lnSpc>
                <a:spcPct val="87000"/>
              </a:lnSpc>
              <a:spcBef>
                <a:spcPts val="5"/>
              </a:spcBef>
              <a:tabLst>
                <a:tab pos="572135" algn="l"/>
              </a:tabLst>
            </a:pPr>
            <a:r>
              <a:rPr sz="1600" kern="0" spc="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600" kern="0" spc="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关键成果展⽰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ct val="88000"/>
              </a:lnSpc>
              <a:spcBef>
                <a:spcPts val="310"/>
              </a:spcBef>
            </a:pPr>
            <a:r>
              <a:rPr sz="1000" kern="0" spc="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UHPLC</a:t>
            </a:r>
            <a:r>
              <a:rPr sz="1000" kern="0" spc="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浓度监测：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720" algn="l" rtl="0" eaLnBrk="0">
              <a:lnSpc>
                <a:spcPct val="122000"/>
              </a:lnSpc>
              <a:spcBef>
                <a:spcPts val="105"/>
              </a:spcBef>
            </a:pP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反应前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分钟内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母体浓度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率即突破</a:t>
            </a:r>
            <a:r>
              <a:rPr sz="900" kern="0" spc="7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90%</a:t>
            </a:r>
            <a:r>
              <a:rPr sz="900" kern="0" spc="-8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，展现出极高的降解动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力学速率。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8435" algn="l" rtl="0" eaLnBrk="0">
              <a:lnSpc>
                <a:spcPct val="95000"/>
              </a:lnSpc>
              <a:spcBef>
                <a:spcPts val="310"/>
              </a:spcBef>
            </a:pPr>
            <a:r>
              <a:rPr sz="10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F_</a:t>
            </a:r>
            <a:r>
              <a:rPr sz="1000" kern="0" spc="23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ISE </a:t>
            </a:r>
            <a:r>
              <a:rPr sz="10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离子色谱：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algn="l" rtl="0" eaLnBrk="0">
              <a:lnSpc>
                <a:spcPct val="122000"/>
              </a:lnSpc>
              <a:spcBef>
                <a:spcPts val="20"/>
              </a:spcBef>
            </a:pPr>
            <a:r>
              <a:rPr sz="900" kern="0" spc="7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最终脱氟率高达</a:t>
            </a:r>
            <a:r>
              <a:rPr sz="900" kern="0" spc="70" dirty="0">
                <a:solidFill>
                  <a:srgbClr val="DC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80% </a:t>
            </a:r>
            <a:r>
              <a:rPr sz="900" kern="0" spc="70" dirty="0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</a:t>
            </a:r>
            <a:r>
              <a:rPr sz="900" kern="0" spc="-140" dirty="0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，证实本体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系能高效打断顽固的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C-F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化学键</a:t>
            </a:r>
            <a:r>
              <a:rPr sz="900" kern="0" spc="-1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9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现深度矿化。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8" name="picture 2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05550" y="1734314"/>
            <a:ext cx="266700" cy="254000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3524250" y="2477264"/>
            <a:ext cx="2095500" cy="857250"/>
          </a:xfrm>
          <a:prstGeom prst="rect">
            <a:avLst/>
          </a:prstGeom>
          <a:solidFill>
            <a:srgbClr val="ECFD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670" algn="l" rtl="0" eaLnBrk="0">
              <a:lnSpc>
                <a:spcPts val="1230"/>
              </a:lnSpc>
              <a:spcBef>
                <a:spcPts val="5"/>
              </a:spcBef>
            </a:pPr>
            <a:r>
              <a:rPr sz="1000" kern="0" spc="6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阴极施加电流 </a:t>
            </a:r>
            <a:r>
              <a:rPr sz="1000" kern="0" spc="6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</a:t>
            </a:r>
            <a:r>
              <a:rPr sz="1000" kern="0" spc="6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1765" algn="l" rtl="0" eaLnBrk="0">
              <a:lnSpc>
                <a:spcPct val="83000"/>
              </a:lnSpc>
              <a:spcBef>
                <a:spcPts val="5"/>
              </a:spcBef>
            </a:pPr>
            <a:r>
              <a:rPr sz="2100" kern="0" spc="1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sz="13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3524250" y="3525014"/>
            <a:ext cx="2095500" cy="857250"/>
          </a:xfrm>
          <a:prstGeom prst="rect">
            <a:avLst/>
          </a:prstGeom>
          <a:solidFill>
            <a:srgbClr val="EFF6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320" algn="l" rtl="0" eaLnBrk="0">
              <a:lnSpc>
                <a:spcPts val="1230"/>
              </a:lnSpc>
              <a:spcBef>
                <a:spcPts val="5"/>
              </a:spcBef>
            </a:pPr>
            <a:r>
              <a:rPr sz="1000" kern="0" spc="2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过一硫酸盐投加量 </a:t>
            </a:r>
            <a:r>
              <a:rPr sz="1000" kern="0" spc="2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PMS</a:t>
            </a:r>
            <a:r>
              <a:rPr sz="1000" kern="0" spc="2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305" algn="l" rtl="0" eaLnBrk="0">
              <a:lnSpc>
                <a:spcPct val="83000"/>
              </a:lnSpc>
              <a:spcBef>
                <a:spcPts val="5"/>
              </a:spcBef>
            </a:pPr>
            <a:r>
              <a:rPr sz="2100" kern="0" spc="13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0.4</a:t>
            </a:r>
            <a:r>
              <a:rPr sz="1300" kern="0" spc="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572211" y="567571"/>
            <a:ext cx="560768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第二轮实验：参数寻优与极致性能展⽰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6" name="path 306"/>
          <p:cNvSpPr/>
          <p:nvPr/>
        </p:nvSpPr>
        <p:spPr>
          <a:xfrm>
            <a:off x="6286500" y="3334514"/>
            <a:ext cx="2095500" cy="9525"/>
          </a:xfrm>
          <a:custGeom>
            <a:avLst/>
            <a:gdLst/>
            <a:ahLst/>
            <a:cxnLst/>
            <a:rect l="0" t="0" r="0" b="0"/>
            <a:pathLst>
              <a:path w="3300" h="15">
                <a:moveTo>
                  <a:pt x="0" y="0"/>
                </a:moveTo>
                <a:lnTo>
                  <a:pt x="3300" y="0"/>
                </a:lnTo>
                <a:lnTo>
                  <a:pt x="3300" y="15"/>
                </a:lnTo>
                <a:lnTo>
                  <a:pt x="0" y="15"/>
                </a:lnTo>
                <a:lnTo>
                  <a:pt x="0" y="0"/>
                </a:lnTo>
                <a:close/>
              </a:path>
            </a:pathLst>
          </a:custGeom>
          <a:solidFill>
            <a:srgbClr val="E5E7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8" name="path 308"/>
          <p:cNvSpPr/>
          <p:nvPr/>
        </p:nvSpPr>
        <p:spPr>
          <a:xfrm>
            <a:off x="908050" y="1734314"/>
            <a:ext cx="12700" cy="57150"/>
          </a:xfrm>
          <a:custGeom>
            <a:avLst/>
            <a:gdLst/>
            <a:ahLst/>
            <a:cxnLst/>
            <a:rect l="0" t="0" r="0" b="0"/>
            <a:pathLst>
              <a:path w="20" h="90">
                <a:moveTo>
                  <a:pt x="10" y="80"/>
                </a:moveTo>
                <a:lnTo>
                  <a:pt x="10" y="10"/>
                </a:lnTo>
              </a:path>
            </a:pathLst>
          </a:custGeom>
          <a:noFill/>
          <a:ln w="12700" cap="rnd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0" name="rect 310"/>
          <p:cNvSpPr/>
          <p:nvPr/>
        </p:nvSpPr>
        <p:spPr>
          <a:xfrm>
            <a:off x="0" y="759"/>
            <a:ext cx="9144000" cy="4"/>
          </a:xfrm>
          <a:prstGeom prst="rect">
            <a:avLst/>
          </a:prstGeom>
          <a:solidFill>
            <a:srgbClr val="E6E6E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 312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59"/>
            <a:ext cx="9144000" cy="5143500"/>
          </a:xfrm>
          <a:prstGeom prst="rect">
            <a:avLst/>
          </a:prstGeom>
        </p:spPr>
      </p:pic>
      <p:pic>
        <p:nvPicPr>
          <p:cNvPr id="316" name="picture 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8343" y="1610235"/>
            <a:ext cx="8230055" cy="3280688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564591" y="548515"/>
            <a:ext cx="5325109" cy="749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88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实验结果对比：</a:t>
            </a:r>
            <a:r>
              <a:rPr sz="2400" kern="0" spc="-56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优化前后</a:t>
            </a: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的巨大差您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0"/>
              </a:spcBef>
            </a:pPr>
            <a:r>
              <a:rPr sz="12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通过调整关键参数</a:t>
            </a:r>
            <a:r>
              <a:rPr sz="1200" kern="0" spc="-2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，体系性能得到了质的飞跃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rect 320"/>
          <p:cNvSpPr/>
          <p:nvPr/>
        </p:nvSpPr>
        <p:spPr>
          <a:xfrm>
            <a:off x="0" y="759"/>
            <a:ext cx="9144000" cy="4"/>
          </a:xfrm>
          <a:prstGeom prst="rect">
            <a:avLst/>
          </a:prstGeom>
          <a:solidFill>
            <a:srgbClr val="E6E6E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 322"/>
          <p:cNvSpPr/>
          <p:nvPr/>
        </p:nvSpPr>
        <p:spPr>
          <a:xfrm>
            <a:off x="0" y="759"/>
            <a:ext cx="9144000" cy="5143500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4" name="picture 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59"/>
            <a:ext cx="9144000" cy="5143500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564591" y="548514"/>
            <a:ext cx="7906384" cy="1045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88000"/>
              </a:lnSpc>
            </a:pP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</a:t>
            </a:r>
            <a:r>
              <a:rPr sz="24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降解机理深度解析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indent="-5080" algn="l" rtl="0" eaLnBrk="0">
              <a:lnSpc>
                <a:spcPct val="107000"/>
              </a:lnSpc>
              <a:spcBef>
                <a:spcPts val="0"/>
              </a:spcBef>
            </a:pP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通过结合多种先进分析手段</a:t>
            </a:r>
            <a:r>
              <a:rPr sz="1200" kern="0" spc="-1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，我们揭⽰了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FeMo-CA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体系降解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</a:t>
            </a:r>
            <a:r>
              <a:rPr sz="1200" kern="0" spc="9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的完整路径</a:t>
            </a:r>
            <a:r>
              <a:rPr sz="1200" kern="0" spc="-2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，从分子吸附到彻底矿化</a:t>
            </a:r>
            <a:r>
              <a:rPr sz="1200" kern="0" spc="-19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，每一步都清</a:t>
            </a:r>
            <a:r>
              <a:rPr sz="12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晰可循。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4652662" y="1791450"/>
            <a:ext cx="2219325" cy="1509081"/>
            <a:chOff x="0" y="0"/>
            <a:chExt cx="2219325" cy="1509081"/>
          </a:xfrm>
        </p:grpSpPr>
        <p:pic>
          <p:nvPicPr>
            <p:cNvPr id="330" name="picture 3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219325" cy="1509081"/>
            </a:xfrm>
            <a:prstGeom prst="rect">
              <a:avLst/>
            </a:prstGeom>
          </p:spPr>
        </p:pic>
        <p:sp>
          <p:nvSpPr>
            <p:cNvPr id="332" name="rect 332"/>
            <p:cNvSpPr/>
            <p:nvPr/>
          </p:nvSpPr>
          <p:spPr>
            <a:xfrm>
              <a:off x="14587" y="19063"/>
              <a:ext cx="2000250" cy="1285875"/>
            </a:xfrm>
            <a:prstGeom prst="rect">
              <a:avLst/>
            </a:prstGeom>
            <a:solidFill>
              <a:srgbClr val="FFFFFF">
                <a:alpha val="9490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4" name="textbox 334"/>
            <p:cNvSpPr/>
            <p:nvPr/>
          </p:nvSpPr>
          <p:spPr>
            <a:xfrm>
              <a:off x="148762" y="163526"/>
              <a:ext cx="1688464" cy="1036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8280" algn="l" rtl="0" eaLnBrk="0">
                <a:lnSpc>
                  <a:spcPct val="87000"/>
                </a:lnSpc>
                <a:tabLst>
                  <a:tab pos="358775" algn="l"/>
                </a:tabLst>
              </a:pPr>
              <a:r>
                <a:rPr sz="12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200" kern="0" spc="-3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电子转移活化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6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6000"/>
                </a:lnSpc>
                <a:spcBef>
                  <a:spcPts val="0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在外加电场和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FeMo-CA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阴极协同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作用下</a:t>
              </a:r>
              <a:r>
                <a:rPr sz="900" kern="0" spc="-1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分子被吸附并得到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电子 ，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C-F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键被活化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，为后续反应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奠定基础。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336" name="picture 3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90799" y="176226"/>
              <a:ext cx="166687" cy="200025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 rot="21600000">
            <a:off x="4652662" y="3279484"/>
            <a:ext cx="2219325" cy="1509579"/>
            <a:chOff x="0" y="0"/>
            <a:chExt cx="2219325" cy="1509579"/>
          </a:xfrm>
        </p:grpSpPr>
        <p:pic>
          <p:nvPicPr>
            <p:cNvPr id="338" name="picture 3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219325" cy="1509579"/>
            </a:xfrm>
            <a:prstGeom prst="rect">
              <a:avLst/>
            </a:prstGeom>
          </p:spPr>
        </p:pic>
        <p:sp>
          <p:nvSpPr>
            <p:cNvPr id="340" name="rect 340"/>
            <p:cNvSpPr/>
            <p:nvPr/>
          </p:nvSpPr>
          <p:spPr>
            <a:xfrm>
              <a:off x="14587" y="7404"/>
              <a:ext cx="2000250" cy="1285875"/>
            </a:xfrm>
            <a:prstGeom prst="rect">
              <a:avLst/>
            </a:prstGeom>
            <a:solidFill>
              <a:srgbClr val="FFFFFF">
                <a:alpha val="9490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2" name="textbox 342"/>
            <p:cNvSpPr/>
            <p:nvPr/>
          </p:nvSpPr>
          <p:spPr>
            <a:xfrm>
              <a:off x="150477" y="184442"/>
              <a:ext cx="1736089" cy="1004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480" algn="l" rtl="0" eaLnBrk="0">
                <a:lnSpc>
                  <a:spcPct val="88000"/>
                </a:lnSpc>
              </a:pPr>
              <a:r>
                <a:rPr sz="1200" kern="0" spc="-2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 o   </a:t>
              </a:r>
              <a:r>
                <a:rPr sz="1200" kern="0" spc="-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逐级脱碳</a:t>
              </a:r>
              <a:r>
                <a:rPr sz="1200" kern="0" spc="-3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脱氟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6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3810" algn="l" rtl="0" eaLnBrk="0">
                <a:lnSpc>
                  <a:spcPct val="96000"/>
                </a:lnSpc>
                <a:spcBef>
                  <a:spcPts val="0"/>
                </a:spcBef>
              </a:pP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断裂后的短链中间产物持续受到自由基的攻击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，碳链进一步缩短</a:t>
              </a:r>
              <a:r>
                <a:rPr sz="900" kern="0" spc="-1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键逐步脱除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，转化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为更简单的分</a:t>
              </a:r>
              <a:r>
                <a:rPr sz="900" kern="0" spc="-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子。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6749297" y="3279484"/>
            <a:ext cx="2217317" cy="1496894"/>
            <a:chOff x="0" y="0"/>
            <a:chExt cx="2217317" cy="1496894"/>
          </a:xfrm>
        </p:grpSpPr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217317" cy="1496894"/>
            </a:xfrm>
            <a:prstGeom prst="rect">
              <a:avLst/>
            </a:prstGeom>
          </p:spPr>
        </p:pic>
        <p:grpSp>
          <p:nvGrpSpPr>
            <p:cNvPr id="40" name="group 40"/>
            <p:cNvGrpSpPr/>
            <p:nvPr/>
          </p:nvGrpSpPr>
          <p:grpSpPr>
            <a:xfrm rot="21600000">
              <a:off x="13452" y="7404"/>
              <a:ext cx="2000250" cy="1285875"/>
              <a:chOff x="0" y="0"/>
              <a:chExt cx="2000250" cy="1285875"/>
            </a:xfrm>
          </p:grpSpPr>
          <p:sp>
            <p:nvSpPr>
              <p:cNvPr id="346" name="path 346"/>
              <p:cNvSpPr/>
              <p:nvPr/>
            </p:nvSpPr>
            <p:spPr>
              <a:xfrm>
                <a:off x="0" y="0"/>
                <a:ext cx="2000250" cy="1285875"/>
              </a:xfrm>
              <a:custGeom>
                <a:avLst/>
                <a:gdLst/>
                <a:ahLst/>
                <a:cxnLst/>
                <a:rect l="0" t="0" r="0" b="0"/>
                <a:pathLst>
                  <a:path w="3150" h="2025">
                    <a:moveTo>
                      <a:pt x="0" y="120"/>
                    </a:moveTo>
                    <a:moveTo>
                      <a:pt x="0" y="120"/>
                    </a:moveTo>
                    <a:cubicBezTo>
                      <a:pt x="0" y="53"/>
                      <a:pt x="53" y="0"/>
                      <a:pt x="120" y="0"/>
                    </a:cubicBezTo>
                    <a:lnTo>
                      <a:pt x="3030" y="0"/>
                    </a:lnTo>
                    <a:cubicBezTo>
                      <a:pt x="3096" y="0"/>
                      <a:pt x="3150" y="53"/>
                      <a:pt x="3150" y="120"/>
                    </a:cubicBezTo>
                    <a:lnTo>
                      <a:pt x="3150" y="1905"/>
                    </a:lnTo>
                    <a:cubicBezTo>
                      <a:pt x="3150" y="1971"/>
                      <a:pt x="3096" y="2025"/>
                      <a:pt x="3030" y="2025"/>
                    </a:cubicBezTo>
                    <a:lnTo>
                      <a:pt x="120" y="2025"/>
                    </a:lnTo>
                    <a:cubicBezTo>
                      <a:pt x="53" y="2025"/>
                      <a:pt x="0" y="1971"/>
                      <a:pt x="0" y="1905"/>
                    </a:cubicBez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FFFFFF">
                  <a:alpha val="94901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path 348"/>
              <p:cNvSpPr/>
              <p:nvPr/>
            </p:nvSpPr>
            <p:spPr>
              <a:xfrm>
                <a:off x="252412" y="157162"/>
                <a:ext cx="9525" cy="161925"/>
              </a:xfrm>
              <a:custGeom>
                <a:avLst/>
                <a:gdLst/>
                <a:ahLst/>
                <a:cxnLst/>
                <a:rect l="0" t="0" r="0" b="0"/>
                <a:pathLst>
                  <a:path w="15" h="255">
                    <a:moveTo>
                      <a:pt x="7" y="7"/>
                    </a:moveTo>
                    <a:lnTo>
                      <a:pt x="7" y="247"/>
                    </a:lnTo>
                  </a:path>
                </a:pathLst>
              </a:custGeom>
              <a:noFill/>
              <a:ln w="9524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" name="path 350"/>
              <p:cNvSpPr/>
              <p:nvPr/>
            </p:nvSpPr>
            <p:spPr>
              <a:xfrm>
                <a:off x="190500" y="251835"/>
                <a:ext cx="133350" cy="67252"/>
              </a:xfrm>
              <a:custGeom>
                <a:avLst/>
                <a:gdLst/>
                <a:ahLst/>
                <a:cxnLst/>
                <a:rect l="0" t="0" r="0" b="0"/>
                <a:pathLst>
                  <a:path w="210" h="105">
                    <a:moveTo>
                      <a:pt x="202" y="7"/>
                    </a:moveTo>
                    <a:cubicBezTo>
                      <a:pt x="202" y="57"/>
                      <a:pt x="158" y="98"/>
                      <a:pt x="105" y="98"/>
                    </a:cubicBezTo>
                    <a:cubicBezTo>
                      <a:pt x="51" y="98"/>
                      <a:pt x="7" y="57"/>
                      <a:pt x="7" y="7"/>
                    </a:cubicBezTo>
                  </a:path>
                </a:pathLst>
              </a:custGeom>
              <a:noFill/>
              <a:ln w="9524" cap="flat">
                <a:solidFill>
                  <a:srgbClr val="10B98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352" name="picture 35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03952" y="164566"/>
              <a:ext cx="133350" cy="161925"/>
            </a:xfrm>
            <a:prstGeom prst="rect">
              <a:avLst/>
            </a:prstGeom>
          </p:spPr>
        </p:pic>
        <p:sp>
          <p:nvSpPr>
            <p:cNvPr id="354" name="textbox 354"/>
            <p:cNvSpPr/>
            <p:nvPr/>
          </p:nvSpPr>
          <p:spPr>
            <a:xfrm>
              <a:off x="146828" y="151866"/>
              <a:ext cx="1727200" cy="1050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9865" algn="l" rtl="0" eaLnBrk="0">
                <a:lnSpc>
                  <a:spcPct val="88000"/>
                </a:lnSpc>
                <a:tabLst>
                  <a:tab pos="349250" algn="l"/>
                </a:tabLst>
              </a:pPr>
              <a:r>
                <a:rPr sz="12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200" kern="0" spc="-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最终彻底矿化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7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275"/>
                </a:spcBef>
              </a:pP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所有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C-F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键被完全破坏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FOA 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终分解为环境无害的</a:t>
              </a: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无</a:t>
              </a:r>
              <a:r>
                <a:rPr sz="900" kern="0" spc="-1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机氟离子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9050" algn="l" rtl="0" eaLnBrk="0">
                <a:lnSpc>
                  <a:spcPct val="94000"/>
                </a:lnSpc>
                <a:spcBef>
                  <a:spcPts val="220"/>
                </a:spcBef>
              </a:pP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(F_)</a:t>
              </a: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、二氧化碳</a:t>
              </a: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(CO2)</a:t>
              </a: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和水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905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9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(H2O)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2" name="group 42"/>
            <p:cNvGrpSpPr/>
            <p:nvPr/>
          </p:nvGrpSpPr>
          <p:grpSpPr>
            <a:xfrm rot="21600000">
              <a:off x="203952" y="164566"/>
              <a:ext cx="133350" cy="200025"/>
              <a:chOff x="0" y="0"/>
              <a:chExt cx="133350" cy="200025"/>
            </a:xfrm>
          </p:grpSpPr>
          <p:sp>
            <p:nvSpPr>
              <p:cNvPr id="356" name="path 356"/>
              <p:cNvSpPr/>
              <p:nvPr/>
            </p:nvSpPr>
            <p:spPr>
              <a:xfrm>
                <a:off x="61912" y="152400"/>
                <a:ext cx="9525" cy="47625"/>
              </a:xfrm>
              <a:custGeom>
                <a:avLst/>
                <a:gdLst/>
                <a:ahLst/>
                <a:cxnLst/>
                <a:rect l="0" t="0" r="0" b="0"/>
                <a:pathLst>
                  <a:path w="15" h="75">
                    <a:moveTo>
                      <a:pt x="7" y="7"/>
                    </a:moveTo>
                    <a:lnTo>
                      <a:pt x="7" y="67"/>
                    </a:lnTo>
                  </a:path>
                </a:pathLst>
              </a:custGeom>
              <a:noFill/>
              <a:ln w="9524" cap="rnd">
                <a:solidFill>
                  <a:srgbClr val="10B98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path 358"/>
              <p:cNvSpPr/>
              <p:nvPr/>
            </p:nvSpPr>
            <p:spPr>
              <a:xfrm>
                <a:off x="0" y="0"/>
                <a:ext cx="133350" cy="104197"/>
              </a:xfrm>
              <a:custGeom>
                <a:avLst/>
                <a:gdLst/>
                <a:ahLst/>
                <a:cxnLst/>
                <a:rect l="0" t="0" r="0" b="0"/>
                <a:pathLst>
                  <a:path w="210" h="164">
                    <a:moveTo>
                      <a:pt x="202" y="156"/>
                    </a:moveTo>
                    <a:cubicBezTo>
                      <a:pt x="202" y="106"/>
                      <a:pt x="105" y="7"/>
                      <a:pt x="105" y="7"/>
                    </a:cubicBezTo>
                    <a:cubicBezTo>
                      <a:pt x="105" y="7"/>
                      <a:pt x="7" y="106"/>
                      <a:pt x="7" y="156"/>
                    </a:cubicBezTo>
                  </a:path>
                </a:pathLst>
              </a:custGeom>
              <a:noFill/>
              <a:ln w="9524" cap="flat">
                <a:solidFill>
                  <a:srgbClr val="10B98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21600000">
            <a:off x="6749297" y="1804131"/>
            <a:ext cx="2217317" cy="1483718"/>
            <a:chOff x="0" y="0"/>
            <a:chExt cx="2217317" cy="1483718"/>
          </a:xfrm>
        </p:grpSpPr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217317" cy="1483718"/>
            </a:xfrm>
            <a:prstGeom prst="rect">
              <a:avLst/>
            </a:prstGeom>
          </p:spPr>
        </p:pic>
        <p:sp>
          <p:nvSpPr>
            <p:cNvPr id="362" name="rect 362"/>
            <p:cNvSpPr/>
            <p:nvPr/>
          </p:nvSpPr>
          <p:spPr>
            <a:xfrm>
              <a:off x="13452" y="6382"/>
              <a:ext cx="2000250" cy="1285875"/>
            </a:xfrm>
            <a:prstGeom prst="rect">
              <a:avLst/>
            </a:prstGeom>
            <a:solidFill>
              <a:srgbClr val="FFFFFF">
                <a:alpha val="9490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4" name="textbox 364"/>
            <p:cNvSpPr/>
            <p:nvPr/>
          </p:nvSpPr>
          <p:spPr>
            <a:xfrm>
              <a:off x="147856" y="174657"/>
              <a:ext cx="1688464" cy="1012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3200" algn="l" rtl="0" eaLnBrk="0">
                <a:lnSpc>
                  <a:spcPct val="87000"/>
                </a:lnSpc>
                <a:spcBef>
                  <a:spcPts val="0"/>
                </a:spcBef>
                <a:tabLst>
                  <a:tab pos="222250" algn="l"/>
                </a:tabLst>
              </a:pPr>
              <a:r>
                <a:rPr sz="12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1200" kern="0" spc="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200" kern="0" spc="-3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自由基攻击断裂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7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" algn="l" rtl="0" eaLnBrk="0">
                <a:lnSpc>
                  <a:spcPct val="88000"/>
                </a:lnSpc>
                <a:spcBef>
                  <a:spcPts val="280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Fe²+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高效活化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PMS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产生大量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335" algn="l" rtl="0" eaLnBrk="0">
                <a:lnSpc>
                  <a:spcPct val="87000"/>
                </a:lnSpc>
                <a:spcBef>
                  <a:spcPts val="110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SO4</a:t>
              </a:r>
              <a:r>
                <a:rPr sz="900" kern="0" spc="24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·</a:t>
              </a:r>
              <a:r>
                <a:rPr sz="900" kern="0" spc="-10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-27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，协同进攻已被活化的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6985" algn="l" rtl="0" eaLnBrk="0">
                <a:lnSpc>
                  <a:spcPct val="90000"/>
                </a:lnSpc>
                <a:spcBef>
                  <a:spcPts val="190"/>
                </a:spcBef>
              </a:pP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分子</a:t>
              </a:r>
              <a:r>
                <a:rPr sz="900" kern="0" spc="-1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3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，引发碳链断裂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4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，形成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短链中间产物。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366" name="picture 3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89665" y="187357"/>
              <a:ext cx="161925" cy="123825"/>
            </a:xfrm>
            <a:prstGeom prst="rect">
              <a:avLst/>
            </a:prstGeom>
          </p:spPr>
        </p:pic>
        <p:pic>
          <p:nvPicPr>
            <p:cNvPr id="368" name="picture 36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70615" y="301657"/>
              <a:ext cx="200025" cy="47625"/>
            </a:xfrm>
            <a:prstGeom prst="rect">
              <a:avLst/>
            </a:prstGeom>
          </p:spPr>
        </p:pic>
      </p:grpSp>
      <p:pic>
        <p:nvPicPr>
          <p:cNvPr id="370" name="picture 3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-2413"/>
            <a:ext cx="9144000" cy="6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980" y="1810725"/>
            <a:ext cx="2665163" cy="27842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 372"/>
          <p:cNvSpPr/>
          <p:nvPr/>
        </p:nvSpPr>
        <p:spPr>
          <a:xfrm>
            <a:off x="0" y="760"/>
            <a:ext cx="9144000" cy="5143499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60"/>
            <a:ext cx="9144000" cy="5143499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5404" y="2359467"/>
            <a:ext cx="8243454" cy="2430364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546100" y="1221240"/>
            <a:ext cx="8242300" cy="1140281"/>
            <a:chOff x="0" y="0"/>
            <a:chExt cx="8242300" cy="1140281"/>
          </a:xfrm>
        </p:grpSpPr>
        <p:pic>
          <p:nvPicPr>
            <p:cNvPr id="378" name="picture 37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8242300" cy="1140281"/>
            </a:xfrm>
            <a:prstGeom prst="rect">
              <a:avLst/>
            </a:prstGeom>
          </p:spPr>
        </p:pic>
        <p:sp>
          <p:nvSpPr>
            <p:cNvPr id="380" name="rect 380"/>
            <p:cNvSpPr/>
            <p:nvPr/>
          </p:nvSpPr>
          <p:spPr>
            <a:xfrm>
              <a:off x="25400" y="17773"/>
              <a:ext cx="8001000" cy="9048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2" name="textbox 382"/>
            <p:cNvSpPr/>
            <p:nvPr/>
          </p:nvSpPr>
          <p:spPr>
            <a:xfrm>
              <a:off x="208000" y="301169"/>
              <a:ext cx="7602855" cy="363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28" rIns="0" bIns="0"/>
            <a:lstStyle/>
            <a:p>
              <a:pPr marL="12700" algn="l" rtl="0" eaLnBrk="0">
                <a:lnSpc>
                  <a:spcPct val="115000"/>
                </a:lnSpc>
              </a:pPr>
              <a:r>
                <a:rPr sz="1000" kern="0" spc="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本研究成功开发并验证了一种基于</a:t>
              </a:r>
              <a:r>
                <a:rPr sz="10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FeMo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</a:t>
              </a:r>
              <a:r>
                <a:rPr sz="10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5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电化学活</a:t>
              </a:r>
              <a:r>
                <a:rPr sz="1000" kern="0" spc="4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 </a:t>
              </a:r>
              <a:r>
                <a:rPr sz="1000" kern="0" spc="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PMS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的新型高级氧化技术</a:t>
              </a:r>
              <a:r>
                <a:rPr sz="1000" kern="0" spc="-1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，突破了传统工艺的局限</a:t>
              </a:r>
              <a:r>
                <a:rPr sz="1000" kern="0" spc="-1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，实现了对环境顽固污染物 </a:t>
              </a:r>
              <a:r>
                <a:rPr sz="1000" kern="0" spc="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的高效降解和深度脱氟</a:t>
              </a:r>
              <a:r>
                <a:rPr sz="1000" kern="0" spc="-1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，实验测得最终脱氟率</a:t>
              </a:r>
              <a:r>
                <a:rPr sz="1000" kern="0" spc="40" dirty="0">
                  <a:solidFill>
                    <a:srgbClr val="10B98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大于 </a:t>
              </a:r>
              <a:r>
                <a:rPr sz="1000" kern="0" spc="40" dirty="0">
                  <a:solidFill>
                    <a:srgbClr val="10B98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80%</a:t>
              </a:r>
              <a:r>
                <a:rPr sz="1000" kern="0" spc="4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，为</a:t>
              </a:r>
              <a:r>
                <a:rPr sz="1000" kern="0" spc="3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该类物质的治理提供了新路径。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84" name="picture 3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1500" y="2382013"/>
            <a:ext cx="3905250" cy="219075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4667250" y="2382013"/>
            <a:ext cx="3905250" cy="2190750"/>
            <a:chOff x="0" y="0"/>
            <a:chExt cx="3905250" cy="2190750"/>
          </a:xfrm>
        </p:grpSpPr>
        <p:sp>
          <p:nvSpPr>
            <p:cNvPr id="386" name="rect 386"/>
            <p:cNvSpPr/>
            <p:nvPr/>
          </p:nvSpPr>
          <p:spPr>
            <a:xfrm>
              <a:off x="0" y="0"/>
              <a:ext cx="3905250" cy="21907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8" name="textbox 388"/>
            <p:cNvSpPr/>
            <p:nvPr/>
          </p:nvSpPr>
          <p:spPr>
            <a:xfrm>
              <a:off x="182753" y="229235"/>
              <a:ext cx="3530600" cy="1718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500" kern="0" spc="-1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广阔的应用前景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9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0220" indent="-2540" algn="l" rtl="0" eaLnBrk="0">
                <a:lnSpc>
                  <a:spcPct val="143000"/>
                </a:lnSpc>
                <a:spcBef>
                  <a:spcPts val="275"/>
                </a:spcBef>
              </a:pP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针对 </a:t>
              </a:r>
              <a:r>
                <a:rPr sz="900" kern="0" spc="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PFOA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等新型持久性有机污染物 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900" kern="0" spc="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POPs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治理难度大</a:t>
              </a:r>
              <a:r>
                <a:rPr sz="900" kern="0" spc="7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的行业痛点</a:t>
              </a:r>
              <a:r>
                <a:rPr sz="900" kern="0" spc="-13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7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，本技术提供了一种兼具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经济性与可行性的</a:t>
              </a:r>
              <a:r>
                <a:rPr sz="900" kern="0" spc="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工程化解决方案。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93395" indent="-5715" algn="l" rtl="0" eaLnBrk="0">
                <a:lnSpc>
                  <a:spcPct val="142000"/>
                </a:lnSpc>
                <a:spcBef>
                  <a:spcPts val="5"/>
                </a:spcBef>
              </a:pPr>
              <a:r>
                <a:rPr sz="900" kern="0" spc="7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未来可广泛应用于饮用水源地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深度净化、</a:t>
              </a:r>
              <a:r>
                <a:rPr sz="900" kern="0" spc="-9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电子与化工园</a:t>
              </a:r>
              <a:r>
                <a:rPr sz="900" kern="0" spc="7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区工业废水预处理以及含氟废水的末端治理等多个领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88315" algn="l" rtl="0" eaLnBrk="0">
                <a:lnSpc>
                  <a:spcPct val="90000"/>
                </a:lnSpc>
                <a:spcBef>
                  <a:spcPts val="0"/>
                </a:spcBef>
              </a:pPr>
              <a:r>
                <a:rPr sz="900" kern="0" spc="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域</a:t>
              </a:r>
              <a:r>
                <a:rPr sz="900" kern="0" spc="-6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50" dirty="0">
                  <a:solidFill>
                    <a:srgbClr val="37415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，具备极高的商业转化和推广潜力。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0" name="path 390"/>
            <p:cNvSpPr/>
            <p:nvPr/>
          </p:nvSpPr>
          <p:spPr>
            <a:xfrm>
              <a:off x="0" y="0"/>
              <a:ext cx="3905250" cy="38100"/>
            </a:xfrm>
            <a:custGeom>
              <a:avLst/>
              <a:gdLst/>
              <a:ahLst/>
              <a:cxnLst/>
              <a:rect l="0" t="0" r="0" b="0"/>
              <a:pathLst>
                <a:path w="6150" h="60">
                  <a:moveTo>
                    <a:pt x="0" y="0"/>
                  </a:moveTo>
                  <a:lnTo>
                    <a:pt x="6150" y="0"/>
                  </a:lnTo>
                  <a:lnTo>
                    <a:pt x="6150" y="60"/>
                  </a:lnTo>
                  <a:lnTo>
                    <a:pt x="0" y="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B98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22250" y="793750"/>
              <a:ext cx="241300" cy="241300"/>
            </a:xfrm>
            <a:prstGeom prst="rect">
              <a:avLst/>
            </a:prstGeom>
          </p:spPr>
        </p:pic>
      </p:grpSp>
      <p:sp>
        <p:nvSpPr>
          <p:cNvPr id="394" name="textbox 394"/>
          <p:cNvSpPr/>
          <p:nvPr/>
        </p:nvSpPr>
        <p:spPr>
          <a:xfrm>
            <a:off x="1218589" y="2847608"/>
            <a:ext cx="2998470" cy="166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88000"/>
              </a:lnSpc>
            </a:pPr>
            <a:r>
              <a:rPr sz="1000" kern="0" spc="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高效彻底的矿化能力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905" algn="l" rtl="0" eaLnBrk="0">
              <a:lnSpc>
                <a:spcPct val="122000"/>
              </a:lnSpc>
              <a:spcBef>
                <a:spcPts val="205"/>
              </a:spcBef>
            </a:pP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不同于简单的物理转移或部分降解</a:t>
            </a:r>
            <a:r>
              <a:rPr sz="900" kern="0" spc="-15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，本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技术能将 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PFOA 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</a:t>
            </a:r>
            <a:r>
              <a:rPr sz="900" kern="0" spc="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链完全断裂并实现深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度矿化。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88000"/>
              </a:lnSpc>
              <a:spcBef>
                <a:spcPts val="600"/>
              </a:spcBef>
            </a:pPr>
            <a:r>
              <a:rPr sz="1000" kern="0" spc="4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显著的低能耗特征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7940" indent="-13970" algn="l" rtl="0" eaLnBrk="0">
              <a:lnSpc>
                <a:spcPct val="122000"/>
              </a:lnSpc>
              <a:spcBef>
                <a:spcPts val="210"/>
              </a:spcBef>
            </a:pPr>
            <a:r>
              <a:rPr sz="900" kern="0" spc="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在维持较低电流密度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的工况下</a:t>
            </a:r>
            <a:r>
              <a:rPr sz="900" kern="0" spc="-15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，仍能持续稳定地产生高活性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自由基</a:t>
            </a:r>
            <a:r>
              <a:rPr sz="900" kern="0" spc="-15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，保证优异的降解性能。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  <a:spcBef>
                <a:spcPts val="605"/>
              </a:spcBef>
            </a:pPr>
            <a:r>
              <a:rPr sz="1000" kern="0" spc="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环境友好</a:t>
            </a:r>
            <a:r>
              <a:rPr sz="1000" kern="0" spc="-1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，无二次污</a:t>
            </a:r>
            <a:r>
              <a:rPr sz="1000" kern="0" spc="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indent="-6350" algn="l" rtl="0" eaLnBrk="0">
              <a:lnSpc>
                <a:spcPct val="122000"/>
              </a:lnSpc>
              <a:spcBef>
                <a:spcPts val="195"/>
              </a:spcBef>
            </a:pPr>
            <a:r>
              <a:rPr sz="900" kern="0" spc="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通过创新的电极材料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与反应体系设计</a:t>
            </a:r>
            <a:r>
              <a:rPr sz="900" kern="0" spc="-15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，有效避免了处理过程中产生其他有害副产物。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567944" y="567571"/>
            <a:ext cx="1540510" cy="345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763397" y="2559753"/>
            <a:ext cx="1164589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核心技术优势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th 400"/>
          <p:cNvSpPr/>
          <p:nvPr/>
        </p:nvSpPr>
        <p:spPr>
          <a:xfrm>
            <a:off x="571500" y="2382013"/>
            <a:ext cx="3905250" cy="38100"/>
          </a:xfrm>
          <a:custGeom>
            <a:avLst/>
            <a:gdLst/>
            <a:ahLst/>
            <a:cxnLst/>
            <a:rect l="0" t="0" r="0" b="0"/>
            <a:pathLst>
              <a:path w="6150" h="60">
                <a:moveTo>
                  <a:pt x="0" y="0"/>
                </a:moveTo>
                <a:lnTo>
                  <a:pt x="6150" y="0"/>
                </a:lnTo>
                <a:lnTo>
                  <a:pt x="6150" y="60"/>
                </a:lnTo>
                <a:lnTo>
                  <a:pt x="0" y="6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2" name="picture 4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3236" y="3417063"/>
            <a:ext cx="233362" cy="233362"/>
          </a:xfrm>
          <a:prstGeom prst="rect">
            <a:avLst/>
          </a:prstGeom>
        </p:spPr>
      </p:pic>
      <p:pic>
        <p:nvPicPr>
          <p:cNvPr id="404" name="picture 4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22086" y="2861424"/>
            <a:ext cx="183356" cy="222250"/>
          </a:xfrm>
          <a:prstGeom prst="rect">
            <a:avLst/>
          </a:prstGeom>
        </p:spPr>
      </p:pic>
      <p:sp>
        <p:nvSpPr>
          <p:cNvPr id="406" name="path 406"/>
          <p:cNvSpPr/>
          <p:nvPr/>
        </p:nvSpPr>
        <p:spPr>
          <a:xfrm>
            <a:off x="822086" y="2855868"/>
            <a:ext cx="183356" cy="229220"/>
          </a:xfrm>
          <a:custGeom>
            <a:avLst/>
            <a:gdLst/>
            <a:ahLst/>
            <a:cxnLst/>
            <a:rect l="0" t="0" r="0" b="0"/>
            <a:pathLst>
              <a:path w="288" h="360">
                <a:moveTo>
                  <a:pt x="96" y="8"/>
                </a:moveTo>
                <a:lnTo>
                  <a:pt x="253" y="8"/>
                </a:lnTo>
                <a:moveTo>
                  <a:pt x="157" y="131"/>
                </a:moveTo>
                <a:lnTo>
                  <a:pt x="288" y="131"/>
                </a:lnTo>
                <a:moveTo>
                  <a:pt x="78" y="358"/>
                </a:moveTo>
                <a:lnTo>
                  <a:pt x="122" y="192"/>
                </a:lnTo>
                <a:lnTo>
                  <a:pt x="0" y="192"/>
                </a:lnTo>
              </a:path>
            </a:pathLst>
          </a:custGeom>
          <a:noFill/>
          <a:ln w="11112" cap="flat">
            <a:solidFill>
              <a:srgbClr val="10B98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textbox 408"/>
          <p:cNvSpPr/>
          <p:nvPr/>
        </p:nvSpPr>
        <p:spPr>
          <a:xfrm>
            <a:off x="815975" y="4402153"/>
            <a:ext cx="97789" cy="147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100" kern="0" spc="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0" name="path 410"/>
          <p:cNvSpPr/>
          <p:nvPr/>
        </p:nvSpPr>
        <p:spPr>
          <a:xfrm>
            <a:off x="889793" y="4303682"/>
            <a:ext cx="11112" cy="27781"/>
          </a:xfrm>
          <a:custGeom>
            <a:avLst/>
            <a:gdLst/>
            <a:ahLst/>
            <a:cxnLst/>
            <a:rect l="0" t="0" r="0" b="0"/>
            <a:pathLst>
              <a:path w="17" h="43">
                <a:moveTo>
                  <a:pt x="8" y="8"/>
                </a:moveTo>
                <a:lnTo>
                  <a:pt x="8" y="35"/>
                </a:lnTo>
              </a:path>
            </a:pathLst>
          </a:custGeom>
          <a:noFill/>
          <a:ln w="11112" cap="rnd">
            <a:solidFill>
              <a:srgbClr val="10B981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2" name="rect 412"/>
          <p:cNvSpPr/>
          <p:nvPr/>
        </p:nvSpPr>
        <p:spPr>
          <a:xfrm>
            <a:off x="0" y="760"/>
            <a:ext cx="9144000" cy="3"/>
          </a:xfrm>
          <a:prstGeom prst="rect">
            <a:avLst/>
          </a:prstGeom>
          <a:solidFill>
            <a:srgbClr val="E6E6E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824" y="3150991"/>
            <a:ext cx="328957" cy="2483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107" y="4190349"/>
            <a:ext cx="400106" cy="3429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647" y="3999592"/>
            <a:ext cx="316696" cy="3342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 414"/>
          <p:cNvSpPr/>
          <p:nvPr/>
        </p:nvSpPr>
        <p:spPr>
          <a:xfrm>
            <a:off x="0" y="0"/>
            <a:ext cx="9144000" cy="5143504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4"/>
            <a:ext cx="9144000" cy="5143500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3413290" y="1718949"/>
            <a:ext cx="2366645" cy="2011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7670" algn="l" rtl="0" eaLnBrk="0">
              <a:lnSpc>
                <a:spcPct val="87000"/>
              </a:lnSpc>
            </a:pPr>
            <a:r>
              <a:rPr sz="30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5"/>
              </a:spcBef>
            </a:pPr>
            <a:r>
              <a:rPr sz="7200" kern="0" spc="-14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 </a:t>
            </a:r>
            <a:r>
              <a:rPr sz="7200" kern="0" spc="-13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&amp;</a:t>
            </a:r>
            <a:r>
              <a:rPr sz="7200" kern="0" spc="-39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200" kern="0" spc="10" dirty="0">
                <a:solidFill>
                  <a:srgbClr val="10B9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7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3668712" y="4134489"/>
            <a:ext cx="101155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70" dirty="0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</a:t>
            </a:r>
            <a:r>
              <a:rPr sz="1500" kern="0" spc="440" dirty="0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FFFFFF">
                    <a:alpha val="85098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4701794" y="4134489"/>
            <a:ext cx="77850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-30" dirty="0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共同探讨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6" name="picture 4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-3171"/>
            <a:ext cx="9144000" cy="6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4250</Words>
  <Application>WPS 演示</Application>
  <PresentationFormat>自定义</PresentationFormat>
  <Paragraphs>396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Segoe UI Symbol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白芷瑜</cp:lastModifiedBy>
  <cp:revision>5</cp:revision>
  <dcterms:created xsi:type="dcterms:W3CDTF">2026-05-24T01:47:00Z</dcterms:created>
  <dcterms:modified xsi:type="dcterms:W3CDTF">2026-05-24T06:24:38Z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2026-05-24T09:56:27Z</vt:filetime>
  </property>
  <property fmtid="{D5CDD505-2E9C-101B-9397-08002B2CF9AE}" pid="4" name="ICV">
    <vt:lpwstr>CD235F92F25B461F8B013E6305A4EF85_13</vt:lpwstr>
  </property>
  <property fmtid="{D5CDD505-2E9C-101B-9397-08002B2CF9AE}" pid="5" name="KSOProductBuildVer">
    <vt:lpwstr>2052-12.1.0.26375</vt:lpwstr>
  </property>
</Properties>
</file>